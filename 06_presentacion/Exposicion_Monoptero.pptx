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Georgia"/>
              </a:defRPr>
            </a:pPr>
            <a:r>
              <a:t>Exposición Técnica: Control de Monóptero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Diagrama de conexiones, Protocolo ESC, Muestreo y Fit 3</a:t>
            </a:r>
          </a:p>
          <a:p>
            <a:r>
              <a:t>Universidad del Magdalena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Georgia"/>
              </a:defRPr>
            </a:pPr>
            <a:r>
              <a:t>Diagrama de Conexiones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Arquitectura de hardware de la planta de 1 GDL:</a:t>
            </a:r>
          </a:p>
          <a:p>
            <a:pPr>
              <a:defRPr sz="1600">
                <a:latin typeface="Arial"/>
              </a:defRPr>
            </a:pPr>
            <a:r>
              <a:t>Arduino Uno/Mega como controlador central.</a:t>
            </a:r>
          </a:p>
          <a:p>
            <a:pPr>
              <a:defRPr sz="1600">
                <a:latin typeface="Arial"/>
              </a:defRPr>
            </a:pPr>
            <a:r>
              <a:t>Sensor ultrasónico HC-SR04 / VL53L0X para medición de cota.</a:t>
            </a:r>
          </a:p>
          <a:p>
            <a:pPr>
              <a:defRPr sz="1600">
                <a:latin typeface="Arial"/>
              </a:defRPr>
            </a:pPr>
            <a:r>
              <a:t>ESC de 30 A (pin D9) y Motor Brushless.</a:t>
            </a:r>
          </a:p>
          <a:p>
            <a:pPr>
              <a:defRPr sz="1600">
                <a:latin typeface="Arial"/>
              </a:defRPr>
            </a:pPr>
            <a:r>
              <a:t>Fuente DC 12V 5A con bus GND unificado.</a:t>
            </a:r>
          </a:p>
        </p:txBody>
      </p:sp>
      <p:pic>
        <p:nvPicPr>
          <p:cNvPr id="4" name="Picture 3" descr="diagrama_conexi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73723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Georgia"/>
              </a:defRPr>
            </a:pPr>
            <a:r>
              <a:t>Protocolo de Armado del ESC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El ESC requiere una secuencia de seguridad para calibrar el rango de PWM:</a:t>
            </a:r>
          </a:p>
          <a:p>
            <a:pPr>
              <a:defRPr sz="1600">
                <a:latin typeface="Arial"/>
              </a:defRPr>
            </a:pPr>
            <a:r>
              <a:t>1. Señal Inicial Mínima (1000 µs):</a:t>
            </a:r>
          </a:p>
          <a:p>
            <a:pPr lvl="1">
              <a:defRPr sz="1600">
                <a:latin typeface="Arial"/>
              </a:defRPr>
            </a:pPr>
            <a:r>
              <a:t>El Arduino envía 1000 µs durante 2 segundos. El ESC inicializa y reconoce el umbral de throttle 0%.</a:t>
            </a:r>
          </a:p>
          <a:p>
            <a:pPr>
              <a:defRPr sz="1600">
                <a:latin typeface="Arial"/>
              </a:defRPr>
            </a:pPr>
            <a:r>
              <a:t>2. Señal Máxima (2000 µs):</a:t>
            </a:r>
          </a:p>
          <a:p>
            <a:pPr lvl="1">
              <a:defRPr sz="1600">
                <a:latin typeface="Arial"/>
              </a:defRPr>
            </a:pPr>
            <a:r>
              <a:t>Se salta al máximo pulso durante 2 segundos. El ESC memoriza el throttle 100%.</a:t>
            </a:r>
          </a:p>
          <a:p>
            <a:pPr>
              <a:defRPr sz="1600">
                <a:latin typeface="Arial"/>
              </a:defRPr>
            </a:pPr>
            <a:r>
              <a:t>3. Confirmación (1000 µs):</a:t>
            </a:r>
          </a:p>
          <a:p>
            <a:pPr lvl="1">
              <a:defRPr sz="1600">
                <a:latin typeface="Arial"/>
              </a:defRPr>
            </a:pPr>
            <a:r>
              <a:t>Se retorna a 1000 µs por 2 segundos. El ESC emite los pitidos de armado exitoso.</a:t>
            </a:r>
          </a:p>
          <a:p>
            <a:pPr>
              <a:defRPr sz="1600">
                <a:latin typeface="Arial"/>
              </a:defRPr>
            </a:pPr>
            <a:r>
              <a:t>Código de armado:</a:t>
            </a:r>
          </a:p>
          <a:p>
            <a:pPr lvl="1">
              <a:defRPr sz="1600">
                <a:latin typeface="Arial"/>
              </a:defRPr>
            </a:pPr>
            <a:r>
              <a:t>esc.writeMicroseconds(1000); delay(2000);</a:t>
            </a:r>
            <a:br/>
            <a:r>
              <a:t>esc.writeMicroseconds(2000); delay(2000);</a:t>
            </a:r>
            <a:br/>
            <a:r>
              <a:t>esc.writeMicroseconds(1000); delay(2000);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Georgia"/>
              </a:defRPr>
            </a:pPr>
            <a:r>
              <a:t>Estrategia de Captura (Ts = 50 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Muestreo determinístico para evitar jitter:</a:t>
            </a:r>
          </a:p>
          <a:p>
            <a:pPr>
              <a:defRPr sz="1600">
                <a:latin typeface="Arial"/>
              </a:defRPr>
            </a:pPr>
            <a:r>
              <a:t>Período de muestreo (Ts) = 50 ms (20 Hz):</a:t>
            </a:r>
          </a:p>
          <a:p>
            <a:pPr lvl="1">
              <a:defRPr sz="1600">
                <a:latin typeface="Arial"/>
              </a:defRPr>
            </a:pPr>
            <a:r>
              <a:t>Garantiza suficiente resolución temporal para la dinámica del monóptero sin saturar el bus Serial.</a:t>
            </a:r>
          </a:p>
          <a:p>
            <a:pPr>
              <a:defRPr sz="1600">
                <a:latin typeface="Arial"/>
              </a:defRPr>
            </a:pPr>
            <a:r>
              <a:t>Cumplimiento del Teorema de Nyquist:</a:t>
            </a:r>
          </a:p>
          <a:p>
            <a:pPr lvl="1">
              <a:defRPr sz="1600">
                <a:latin typeface="Arial"/>
              </a:defRPr>
            </a:pPr>
            <a:r>
              <a:t>La frecuencia de corte del sistema es f_c ≈ 0.1 Hz. Al muestrear a 20 Hz, fs &gt;&gt; 2*f_c, evitando aliasing.</a:t>
            </a:r>
          </a:p>
          <a:p>
            <a:pPr>
              <a:defRPr sz="1600">
                <a:latin typeface="Arial"/>
              </a:defRPr>
            </a:pPr>
            <a:r>
              <a:t>Implementación no bloqueante (millis()):</a:t>
            </a:r>
          </a:p>
          <a:p>
            <a:pPr lvl="1">
              <a:defRPr sz="1600">
                <a:latin typeface="Arial"/>
              </a:defRPr>
            </a:pPr>
            <a:r>
              <a:t>if (t_actual - t_previo &gt;= 50) { t_previo = t_actual; ... }</a:t>
            </a:r>
          </a:p>
          <a:p>
            <a:pPr lvl="1">
              <a:defRPr sz="1600">
                <a:latin typeface="Arial"/>
              </a:defRPr>
            </a:pPr>
            <a:r>
              <a:t>Asegura ciclos exactos a diferencia de la función delay().</a:t>
            </a:r>
          </a:p>
        </p:txBody>
      </p:sp>
      <p:pic>
        <p:nvPicPr>
          <p:cNvPr id="4" name="Picture 3" descr="segundo 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114800"/>
            <a:ext cx="4114800" cy="1469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Georgia"/>
              </a:defRPr>
            </a:pPr>
            <a:r>
              <a:t>Formulación del Método Fit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Identificación de Smith &amp; Corripio:</a:t>
            </a:r>
          </a:p>
          <a:p>
            <a:pPr>
              <a:defRPr sz="1600">
                <a:latin typeface="Arial"/>
              </a:defRPr>
            </a:pPr>
            <a:r>
              <a:t>Se asume un modelo FOPDT: G(s) = K * exp(-t0*s) / (tau*s + 1)</a:t>
            </a:r>
          </a:p>
          <a:p>
            <a:pPr>
              <a:defRPr sz="1600">
                <a:latin typeface="Arial"/>
              </a:defRPr>
            </a:pPr>
            <a:r>
              <a:t>En lugar de trazar una recta tangente (Fit 1), Fit 3 busca dos puntos exactos de la respuesta temporal al escalón:</a:t>
            </a:r>
          </a:p>
          <a:p>
            <a:pPr lvl="1">
              <a:defRPr sz="1600">
                <a:latin typeface="Arial"/>
              </a:defRPr>
            </a:pPr>
            <a:r>
              <a:t>t1: tiempo en que la salida alcanza el 28.3% de su excursión total.</a:t>
            </a:r>
          </a:p>
          <a:p>
            <a:pPr lvl="1">
              <a:defRPr sz="1600">
                <a:latin typeface="Arial"/>
              </a:defRPr>
            </a:pPr>
            <a:r>
              <a:t>t2: tiempo en que la salida alcanza el 63.2% de su excursión total.</a:t>
            </a:r>
          </a:p>
          <a:p>
            <a:pPr>
              <a:defRPr sz="1600">
                <a:latin typeface="Arial"/>
              </a:defRPr>
            </a:pPr>
            <a:r>
              <a:t>Cálculo analítico exacto:</a:t>
            </a:r>
          </a:p>
          <a:p>
            <a:pPr lvl="1">
              <a:defRPr sz="1600">
                <a:latin typeface="Arial"/>
              </a:defRPr>
            </a:pPr>
            <a:r>
              <a:t>tau = 1.5 * (t2 - t1)</a:t>
            </a:r>
          </a:p>
          <a:p>
            <a:pPr lvl="1">
              <a:defRPr sz="1600">
                <a:latin typeface="Arial"/>
              </a:defRPr>
            </a:pPr>
            <a:r>
              <a:t>t0 = t2 - tau</a:t>
            </a:r>
          </a:p>
          <a:p>
            <a:pPr lvl="1">
              <a:defRPr sz="1600">
                <a:latin typeface="Arial"/>
              </a:defRPr>
            </a:pPr>
            <a:r>
              <a:t>K = delta_Y / delta_U</a:t>
            </a:r>
          </a:p>
          <a:p>
            <a:pPr>
              <a:defRPr sz="1600">
                <a:latin typeface="Arial"/>
              </a:defRPr>
            </a:pPr>
            <a:r>
              <a:t>Ventaja: Elimina la subjetividad del operador al trazar líneas gráficas. La interpolación en MATLAB lo hace determinístico.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Georgia"/>
              </a:defRPr>
            </a:pPr>
            <a:r>
              <a:t>Validación y Análisis de Estabilidad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Curva del Modelo vs Planta Real:</a:t>
            </a:r>
          </a:p>
          <a:p>
            <a:br/>
            <a:br/>
            <a:br/>
            <a:br/>
            <a:br/>
            <a:br/>
            <a:br/>
            <a:br/>
            <a:br/>
            <a:pPr>
              <a:defRPr sz="1600"/>
            </a:pPr>
            <a:r>
              <a:t>- Fit Alcanzado: 85.77% (Supera meta del 80%).</a:t>
            </a:r>
            <a:br/>
            <a:r>
              <a:t>- Polo LHP estable en s = -0.6362 rad/s.</a:t>
            </a:r>
          </a:p>
        </p:txBody>
      </p:sp>
      <p:pic>
        <p:nvPicPr>
          <p:cNvPr id="4" name="Picture 3" descr="Primer 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1396425"/>
          </a:xfrm>
          <a:prstGeom prst="rect">
            <a:avLst/>
          </a:prstGeom>
        </p:spPr>
      </p:pic>
      <p:pic>
        <p:nvPicPr>
          <p:cNvPr id="5" name="Picture 4" descr="Polos en el plano comple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3657600" cy="26691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