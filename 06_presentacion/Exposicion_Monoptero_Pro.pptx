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DEL EXPOSITOR - DIAPOSITIVA 1:</a:t>
            </a:r>
          </a:p>
          <a:p>
            <a:r>
              <a:t>Buenos días, miembros del comité. En esta sustentación correspondiente a la Etapa 1 del proyecto, abordamos la modelación fenomenológica e identificación paramétrica de un monóptero vertical de un grado de libertad. El control de altura en plataformas sustentadas por empuje aerodinámico exige caracterizar rigurosamente la dinámica del actuador y la respuesta inercial de la planta antes de diseñar cualquier lazo cerrado.</a:t>
            </a:r>
          </a:p>
          <a:p/>
          <a:p>
            <a:r>
              <a:t>Para este propósito, implementamos un protocolo de identificación en lazo abierto fundamentado en la técnica Fit 3 de Smith &amp; Corripio. Nuestro objetivo no se limita a un ajuste empírico de curvas, sino a la formulación de una función de transferencia continua de primer orden con retardo que supere el umbral estricto del 80% de ajuste. Este modelo constituirá la base matemática para la sintonía del regulador en la Etapa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DEL EXPOSITOR - DIAPOSITIVA 2:</a:t>
            </a:r>
          </a:p>
          <a:p>
            <a:r>
              <a:t>La arquitectura electromecánica del banco consta de un carro portador guiado sobre varillas de baja fricción, accionado por un motor brushless y un variador ESC de 30 amperios alimentado a doce voltios regulados. La medición de cota vertical se adquiere mediante un sensor ultrasónico operando en el bus del microcontrolador.</a:t>
            </a:r>
          </a:p>
          <a:p/>
          <a:p>
            <a:r>
              <a:t>En sistemas dinámicos continuos, la temporización de la toma de datos es crítica: fijamos un periodo de muestreo determinístico de cincuenta milisegundos mediante contadores de tiempo en microsegundos, evitando retardos acumulativos o 'jitter'. A su vez, establecimos por firmware un lazo de seguridad de máxima prioridad: si la altura detectada alcanza los ochenta y cinco centímetros, el ancho de pulso se colapsa instantáneamente a mil microsegundos, anulando el empuje para proteger la integridad estructural de la torre frente a colisiones con el tope mecánico.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DEL EXPOSITOR - DIAPOSITIVA 3:</a:t>
            </a:r>
          </a:p>
          <a:p>
            <a:r>
              <a:t>Aunque la segunda ley de Newton modela el desplazamiento traslacional como un sistema de segundo orden debido a la masa inercial del conjunto, las fuerzas disipativas en este banco alteran sustancialmente la distribución de polos. La interacción aerodinámica de la hélice combinada con la fricción viscosa en las columnas de guiado introduce un coeficiente de amortiguamiento muy elevado.</a:t>
            </a:r>
          </a:p>
          <a:p/>
          <a:p>
            <a:r>
              <a:t>Matemáticamente, esto separa ampliamente las dos raíces del polinomio característico: el polo rápido introduce un transitorio de orden casi imperceptible, dejando un único polo dominante en baja frecuencia. Por esta razón, la dinámica se proyecta rigurosamente sobre la forma estándar FOPDT. Recordemos que en control clásico, la posición de las raíces de D(s) en el semiplano complejo dicta la estabilidad natural del sistema: al carecer de polos conjugados complejos, no existirá oscilación en la respuesta natural.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DEL EXPOSITOR - DIAPOSITIVA 4:</a:t>
            </a:r>
          </a:p>
          <a:p>
            <a:r>
              <a:t>El monóptero presenta dos no linealidades severas: el empuje aerodinámico escala con el cuadrado de la velocidad del rotor, y existe una zona muerta mecánica donde cualquier comando por debajo del peso del carro no genera movimiento alguno. Para validar un modelo lineal invariante en el tiempo, es mandatorio linealizar en torno a un punto de operación estable.</a:t>
            </a:r>
          </a:p>
          <a:p/>
          <a:p>
            <a:r>
              <a:t>Calibramos el estado de sustentación o 'hovering' en mil setecientos sesenta y dos microsegundos, situando el carro a trece punto cuarenta y cinco centímetros del suelo. Esta cota es intencional: aísla la dinámica de las recirculaciones turbulentas del efecto suelo. Para estimar la constante de tiempo y el retardo, seleccionamos Fit 3. Mientras que Fit 1 depende de la pendiente de una tangente trazada a criterio del operador —lo cual introduce un error analítico sustancial—, Fit 3 procesa numéricamente los tiempos exactos al veintiocho punto tres y sesenta y tres punto dos por ciento de la respuesta, garantizando repetibilidad matemática.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DEL EXPOSITOR - DIAPOSITIVA 5:</a:t>
            </a:r>
          </a:p>
          <a:p>
            <a:r>
              <a:t>El protocolo experimental exigió mantener la plataforma en flotación estacionaria durante cinco segundos continuos, confirmando que la derivada temporal de la cota fuese nula antes de perturbar el sistema. Transcurrido este lapso, inyectamos un escalón determinístico de cincuenta microsegundos, llevando la excitación a mil ochocientos doce microsegundos. Este incremento representa únicamente el dos punto ocho por ciento del rango operativo del ESC, asegurando que nos mantengamos estrictamente dentro de la ventana de linealización local.</a:t>
            </a:r>
          </a:p>
          <a:p/>
          <a:p>
            <a:r>
              <a:t>En cuanto a la señal del sensor, las reflexiones acústicas dispersas generaban picos de ruido esporádicos. Si hubiésemos implementado un filtro pasabajas analógico o IIR, habríamos introducido un desfase artificial alterando la medición del tiempo muerto. Por ello, aplicamos un filtro digital de mediana de orden cinco: este elimina eficazmente los valores atípicos sin agregar retardo de fase. La planta respondió de manera monótona, alcanzando un régimen estacionario final en treinta y cuatro punto noventa y seis centímetros.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DEL EXPOSITOR - DIAPOSITIVA 6:</a:t>
            </a:r>
          </a:p>
          <a:p>
            <a:r>
              <a:t>En esta diapositiva observamos la implementación computacional del modelo en el entorno Simulink. La arquitectura está diseñada en variables de desviación: la señal de entrada al bloque de función de transferencia no es el pulso absoluto, sino el salto incremental de cincuenta microsegundos.</a:t>
            </a:r>
          </a:p>
          <a:p/>
          <a:p>
            <a:r>
              <a:t>La dinámica se computa a través del bloque de primer orden parametrizado con la ganancia y la constante de tiempo identificadas, pasando por el bloque de retardo de transporte. Al final del esquema, introducimos un sumador que añade el sesgo inicial de trece punto cuarenta y cinco centímetros. Esta adición permite reconstruir la cota física absoluta y comparar, en el bloque Scope, la trayectoria simulada frente a la cinemática registrada en el ensayo físico real.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DEL EXPOSITOR - DIAPOSITIVA 7:</a:t>
            </a:r>
          </a:p>
          <a:p>
            <a:r>
              <a:t>Los resultados experimentales arrojan una ganancia estática K de cero punto cuatro mil trescientos dos centímetros por microsegundo, lo que cuantifica la sensibilidad del empuje en régimen permanente. La constante de tiempo se ubicó en uno punto cincuenta y siete segundos, reflejando la inercia total del sistema mecánico y aerodinámico, mientras que el retardo aparente fue de ciento dieciocho milisegundos, atribuible a la latencia de muestreo del sensor, la inductancia del devanado y la respuesta del ESC.</a:t>
            </a:r>
          </a:p>
          <a:p/>
          <a:p>
            <a:r>
              <a:t>Al confrontar la simulación analítica frente a la serie temporal experimental, obtenemos un error cuadrático medio de cero punto setenta y cinco centímetros —inferior a ocho milímetros a lo largo de toda la excursión transitoria—. Asimismo, el índice de ajuste porcentual Fit alcanzó un ochenta y cinco punto setenta y siete por ciento. Este valor supera con creces el umbral del ochenta por ciento fijado en la rúbrica de evaluación técnica, validando el modelo FOPDT para su uso en la etapa de control.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DEL EXPOSITOR - DIAPOSITIVA 8:</a:t>
            </a:r>
          </a:p>
          <a:p>
            <a:r>
              <a:t>Para concluir, la Etapa 1 cierra con dos certezas físicas fundamentales. Primero, el polo del sistema se sitúa en s = -0.6362 radianes por segundo sobre el eje real negativo, garantizando que la planta en lazo abierto es intrínsecamente estable y asintóticamente aperiódica. Segundo, la relación de controlabilidad t0 sobre tau es de apenas cero punto cero setenta y cinco; al ser un orden de magnitud inferior a cero punto uno, demuestra que el retardo de transporte no representará un obstáculo crítico de desfasamiento para el lazo cerrado.</a:t>
            </a:r>
          </a:p>
          <a:p/>
          <a:p>
            <a:r>
              <a:t>Con los tres parámetros de la planta plenamente identificados, estamos habilitados para avanzar hacia la Etapa 2: el diseño analítico del lazo cerrado. Implementaremos un controlador PID digital donde la componente integral garantizará error nulo de seguimiento compensando el peso propio de la masa suspendida, mientras que las acciones proporcional y derivativa regularán la tasa de ascenso minimizando el sobreimpulso. Muchas gracias; quedamos atentos a las preguntas del jurado.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731520"/>
            <a:ext cx="10728655" cy="164592"/>
          </a:xfrm>
          <a:prstGeom prst="rect">
            <a:avLst/>
          </a:prstGeom>
          <a:solidFill>
            <a:srgbClr val="0F2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188720"/>
            <a:ext cx="9448495" cy="4389120"/>
          </a:xfrm>
          <a:prstGeom prst="rect">
            <a:avLst/>
          </a:prstGeom>
          <a:noFill/>
        </p:spPr>
        <p:txBody>
          <a:bodyPr wrap="square">
            <a:spAutoFit/>
          </a:bodyPr>
          <a:lstStyle/>
          <a:p>
            <a:pPr>
              <a:spcAft>
                <a:spcPts val="1400"/>
              </a:spcAft>
              <a:defRPr sz="1100" b="1">
                <a:solidFill>
                  <a:srgbClr val="0284C7"/>
                </a:solidFill>
                <a:latin typeface="Segoe UI"/>
              </a:defRPr>
            </a:pPr>
            <a:r>
              <a:t>UNIVERSIDAD DEL MAGDALENA • FACULTAD DE INGENIERÍA • CONTROL I</a:t>
            </a:r>
          </a:p>
          <a:p>
            <a:pPr>
              <a:spcAft>
                <a:spcPts val="1000"/>
              </a:spcAft>
              <a:defRPr sz="3200" b="1">
                <a:solidFill>
                  <a:srgbClr val="0F2541"/>
                </a:solidFill>
                <a:latin typeface="Segoe UI"/>
              </a:defRPr>
            </a:pPr>
            <a:r>
              <a:t>Caracterización Experimental y</a:t>
            </a:r>
            <a:br/>
            <a:r>
              <a:t>Modelado Dinámico de un Monóptero</a:t>
            </a:r>
          </a:p>
          <a:p>
            <a:pPr>
              <a:spcAft>
                <a:spcPts val="2600"/>
              </a:spcAft>
              <a:defRPr sz="1500">
                <a:solidFill>
                  <a:srgbClr val="64748B"/>
                </a:solidFill>
                <a:latin typeface="Segoe UI"/>
              </a:defRPr>
            </a:pPr>
            <a:r>
              <a:t>Identificación de Planta FOPDT en Lazo Abierto mediante el Método Fit 3 (Smith &amp; Corripio)</a:t>
            </a:r>
          </a:p>
        </p:txBody>
      </p:sp>
      <p:sp>
        <p:nvSpPr>
          <p:cNvPr id="6" name="Rounded Rectangle 5"/>
          <p:cNvSpPr/>
          <p:nvPr/>
        </p:nvSpPr>
        <p:spPr>
          <a:xfrm>
            <a:off x="1371600" y="4206240"/>
            <a:ext cx="2194560" cy="1097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343400"/>
            <a:ext cx="2194560" cy="822960"/>
          </a:xfrm>
          <a:prstGeom prst="rect">
            <a:avLst/>
          </a:prstGeom>
          <a:noFill/>
        </p:spPr>
        <p:txBody>
          <a:bodyPr wrap="none" lIns="0" rIns="0" tIns="0" bIns="0">
            <a:spAutoFit/>
          </a:bodyPr>
          <a:lstStyle/>
          <a:p>
            <a:pPr algn="ctr">
              <a:defRPr sz="850" b="1">
                <a:solidFill>
                  <a:srgbClr val="64748B"/>
                </a:solidFill>
                <a:latin typeface="Segoe UI"/>
              </a:defRPr>
            </a:pPr>
            <a:r>
              <a:t>OBJETIVO GENERAL</a:t>
            </a:r>
          </a:p>
          <a:p>
            <a:pPr algn="ctr">
              <a:defRPr sz="1200" b="1">
                <a:solidFill>
                  <a:srgbClr val="0F2541"/>
                </a:solidFill>
                <a:latin typeface="Segoe UI"/>
              </a:defRPr>
            </a:pPr>
            <a:r>
              <a:t>Modelo FOPDT Continuo</a:t>
            </a:r>
          </a:p>
        </p:txBody>
      </p:sp>
      <p:sp>
        <p:nvSpPr>
          <p:cNvPr id="8" name="Rounded Rectangle 7"/>
          <p:cNvSpPr/>
          <p:nvPr/>
        </p:nvSpPr>
        <p:spPr>
          <a:xfrm>
            <a:off x="3749039" y="4206240"/>
            <a:ext cx="2194560" cy="1097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39" y="4343400"/>
            <a:ext cx="2194560" cy="822960"/>
          </a:xfrm>
          <a:prstGeom prst="rect">
            <a:avLst/>
          </a:prstGeom>
          <a:noFill/>
        </p:spPr>
        <p:txBody>
          <a:bodyPr wrap="none" lIns="0" rIns="0" tIns="0" bIns="0">
            <a:spAutoFit/>
          </a:bodyPr>
          <a:lstStyle/>
          <a:p>
            <a:pPr algn="ctr">
              <a:defRPr sz="850" b="1">
                <a:solidFill>
                  <a:srgbClr val="64748B"/>
                </a:solidFill>
                <a:latin typeface="Segoe UI"/>
              </a:defRPr>
            </a:pPr>
            <a:r>
              <a:t>MÉTODO DE SÍNTESIS</a:t>
            </a:r>
          </a:p>
          <a:p>
            <a:pPr algn="ctr">
              <a:defRPr sz="1200" b="1">
                <a:solidFill>
                  <a:srgbClr val="0F2541"/>
                </a:solidFill>
                <a:latin typeface="Segoe UI"/>
              </a:defRPr>
            </a:pPr>
            <a:r>
              <a:t>Fit 3 (Smith &amp; Corripio)</a:t>
            </a:r>
          </a:p>
        </p:txBody>
      </p:sp>
      <p:sp>
        <p:nvSpPr>
          <p:cNvPr id="10" name="Rounded Rectangle 9"/>
          <p:cNvSpPr/>
          <p:nvPr/>
        </p:nvSpPr>
        <p:spPr>
          <a:xfrm>
            <a:off x="6126480" y="4206240"/>
            <a:ext cx="2194560" cy="1097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4343400"/>
            <a:ext cx="2194560" cy="822960"/>
          </a:xfrm>
          <a:prstGeom prst="rect">
            <a:avLst/>
          </a:prstGeom>
          <a:noFill/>
        </p:spPr>
        <p:txBody>
          <a:bodyPr wrap="none" lIns="0" rIns="0" tIns="0" bIns="0">
            <a:spAutoFit/>
          </a:bodyPr>
          <a:lstStyle/>
          <a:p>
            <a:pPr algn="ctr">
              <a:defRPr sz="850" b="1">
                <a:solidFill>
                  <a:srgbClr val="64748B"/>
                </a:solidFill>
                <a:latin typeface="Segoe UI"/>
              </a:defRPr>
            </a:pPr>
            <a:r>
              <a:t>CRITERIO RÚBRICA</a:t>
            </a:r>
          </a:p>
          <a:p>
            <a:pPr algn="ctr">
              <a:defRPr sz="1200" b="1">
                <a:solidFill>
                  <a:srgbClr val="0F2541"/>
                </a:solidFill>
                <a:latin typeface="Segoe UI"/>
              </a:defRPr>
            </a:pPr>
            <a:r>
              <a:t>Ajuste Fit ≥ 80%</a:t>
            </a:r>
          </a:p>
        </p:txBody>
      </p:sp>
      <p:sp>
        <p:nvSpPr>
          <p:cNvPr id="12" name="Rounded Rectangle 11"/>
          <p:cNvSpPr/>
          <p:nvPr/>
        </p:nvSpPr>
        <p:spPr>
          <a:xfrm>
            <a:off x="8503920" y="4206240"/>
            <a:ext cx="2194560" cy="1097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4343400"/>
            <a:ext cx="2194560" cy="822960"/>
          </a:xfrm>
          <a:prstGeom prst="rect">
            <a:avLst/>
          </a:prstGeom>
          <a:noFill/>
        </p:spPr>
        <p:txBody>
          <a:bodyPr wrap="none" lIns="0" rIns="0" tIns="0" bIns="0">
            <a:spAutoFit/>
          </a:bodyPr>
          <a:lstStyle/>
          <a:p>
            <a:pPr algn="ctr">
              <a:defRPr sz="850" b="1">
                <a:solidFill>
                  <a:srgbClr val="64748B"/>
                </a:solidFill>
                <a:latin typeface="Segoe UI"/>
              </a:defRPr>
            </a:pPr>
            <a:r>
              <a:t>AJUSTE ALCANZADO</a:t>
            </a:r>
          </a:p>
          <a:p>
            <a:pPr algn="ctr">
              <a:defRPr sz="1200" b="1">
                <a:solidFill>
                  <a:srgbClr val="0D9488"/>
                </a:solidFill>
                <a:latin typeface="Segoe UI"/>
              </a:defRPr>
            </a:pPr>
            <a:r>
              <a:t>Fit = 85.77% (Aprobado)</a:t>
            </a:r>
          </a:p>
        </p:txBody>
      </p:sp>
      <p:sp>
        <p:nvSpPr>
          <p:cNvPr id="14" name="TextBox 13"/>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Control I — Universidad del Magdalena | Etapa 1: Caracterización y Modelado Dinámico</a:t>
            </a:r>
          </a:p>
        </p:txBody>
      </p:sp>
      <p:sp>
        <p:nvSpPr>
          <p:cNvPr id="15" name="TextBox 14"/>
          <p:cNvSpPr txBox="1"/>
          <p:nvPr/>
        </p:nvSpPr>
        <p:spPr>
          <a:xfrm>
            <a:off x="10972800" y="6400800"/>
            <a:ext cx="640080" cy="320040"/>
          </a:xfrm>
          <a:prstGeom prst="rect">
            <a:avLst/>
          </a:prstGeom>
          <a:noFill/>
        </p:spPr>
        <p:txBody>
          <a:bodyPr wrap="none" lIns="0" tIns="0" rIns="0" bIns="0">
            <a:spAutoFit/>
          </a:bodyPr>
          <a:lstStyle/>
          <a:p>
            <a:pPr algn="r">
              <a:defRPr sz="900" b="1">
                <a:solidFill>
                  <a:srgbClr val="64748B"/>
                </a:solidFill>
                <a:latin typeface="Segoe UI"/>
              </a:defRPr>
            </a:pPr>
            <a: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300"/>
              </a:spcAft>
              <a:defRPr sz="1000" b="1">
                <a:solidFill>
                  <a:srgbClr val="0284C7"/>
                </a:solidFill>
                <a:latin typeface="Segoe UI"/>
              </a:defRPr>
            </a:pPr>
            <a:r>
              <a:t>ETAPA 1 • ARQUITECTURA DE HARDWARE Y SEGURIDAD</a:t>
            </a:r>
          </a:p>
          <a:p>
            <a:pPr>
              <a:defRPr sz="2200" b="1">
                <a:solidFill>
                  <a:srgbClr val="0F2541"/>
                </a:solidFill>
                <a:latin typeface="Segoe UI"/>
              </a:defRPr>
            </a:pPr>
            <a:r>
              <a:t>Estructura del Proyecto y Asignación de Componentes</a:t>
            </a:r>
          </a:p>
        </p:txBody>
      </p:sp>
      <p:sp>
        <p:nvSpPr>
          <p:cNvPr id="5" name="Rounded Rectangle 4"/>
          <p:cNvSpPr/>
          <p:nvPr/>
        </p:nvSpPr>
        <p:spPr>
          <a:xfrm>
            <a:off x="731520" y="1463040"/>
            <a:ext cx="457200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023360" cy="4297680"/>
          </a:xfrm>
          <a:prstGeom prst="rect">
            <a:avLst/>
          </a:prstGeom>
          <a:noFill/>
        </p:spPr>
        <p:txBody>
          <a:bodyPr wrap="square">
            <a:spAutoFit/>
          </a:bodyPr>
          <a:lstStyle/>
          <a:p>
            <a:pPr>
              <a:spcAft>
                <a:spcPts val="1000"/>
              </a:spcAft>
              <a:defRPr sz="1400" b="1">
                <a:solidFill>
                  <a:srgbClr val="0F2541"/>
                </a:solidFill>
                <a:latin typeface="Segoe UI"/>
              </a:defRPr>
            </a:pPr>
            <a:r>
              <a:t>Componentes y Especificaciones Técnicas</a:t>
            </a:r>
          </a:p>
          <a:p>
            <a:pPr>
              <a:spcAft>
                <a:spcPts val="600"/>
              </a:spcAft>
              <a:defRPr sz="1100" b="1">
                <a:solidFill>
                  <a:srgbClr val="1E293B"/>
                </a:solidFill>
                <a:latin typeface="Calibri"/>
              </a:defRPr>
            </a:pPr>
            <a:r>
              <a:t>•  Hardware Principal: </a:t>
            </a:r>
            <a:r>
              <a:rPr b="0">
                <a:solidFill>
                  <a:srgbClr val="64748B"/>
                </a:solidFill>
              </a:rPr>
              <a:t>Motor brushless trifásico de sustentación, sensor ultrasónico de altura (precisión milimétrica), ESC de 30 A alimentado a 12V y microcontrolador Arduino.</a:t>
            </a:r>
          </a:p>
          <a:p>
            <a:pPr>
              <a:spcAft>
                <a:spcPts val="600"/>
              </a:spcAft>
              <a:defRPr sz="1100" b="1">
                <a:solidFill>
                  <a:srgbClr val="1E293B"/>
                </a:solidFill>
                <a:latin typeface="Calibri"/>
              </a:defRPr>
            </a:pPr>
            <a:r>
              <a:t>•  Muestreo Determinístico: </a:t>
            </a:r>
            <a:r>
              <a:rPr b="0">
                <a:solidFill>
                  <a:srgbClr val="64748B"/>
                </a:solidFill>
              </a:rPr>
              <a:t>Tiempo de muestreo constante Ts = 50 ms (fs = 20 Hz) para garantizar la fidelidad matemática de la dinámica transitoria sin jitter.</a:t>
            </a:r>
          </a:p>
          <a:p>
            <a:pPr>
              <a:spcAft>
                <a:spcPts val="600"/>
              </a:spcAft>
              <a:defRPr sz="1100" b="1">
                <a:solidFill>
                  <a:srgbClr val="1E293B"/>
                </a:solidFill>
                <a:latin typeface="Calibri"/>
              </a:defRPr>
            </a:pPr>
            <a:r>
              <a:t>•  Seguridad (Failsafe): </a:t>
            </a:r>
            <a:r>
              <a:rPr b="0">
                <a:solidFill>
                  <a:srgbClr val="64748B"/>
                </a:solidFill>
              </a:rPr>
              <a:t>Condición crítica en firmware: si la cota física supera y(t) ≥ 85.0 cm, el PWM se reduce de inmediato a 1000 µs (apagado total) para proteger la torre de colisiones.</a:t>
            </a:r>
          </a:p>
          <a:p>
            <a:pPr>
              <a:spcAft>
                <a:spcPts val="600"/>
              </a:spcAft>
              <a:defRPr sz="1100" b="1">
                <a:solidFill>
                  <a:srgbClr val="1E293B"/>
                </a:solidFill>
                <a:latin typeface="Calibri"/>
              </a:defRPr>
            </a:pPr>
            <a:r>
              <a:t>•  Rango de Operación: </a:t>
            </a:r>
            <a:r>
              <a:rPr b="0">
                <a:solidFill>
                  <a:srgbClr val="64748B"/>
                </a:solidFill>
              </a:rPr>
              <a:t>Carrera mecánica total de 100 cm, con zona de prueba lineal confinada entre 10 cm y 85 cm.</a:t>
            </a:r>
          </a:p>
        </p:txBody>
      </p:sp>
      <p:sp>
        <p:nvSpPr>
          <p:cNvPr id="7" name="Rounded Rectangle 6"/>
          <p:cNvSpPr/>
          <p:nvPr/>
        </p:nvSpPr>
        <p:spPr>
          <a:xfrm>
            <a:off x="5486400" y="1463040"/>
            <a:ext cx="597377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iagrama_conexiones.jpg"/>
          <p:cNvPicPr>
            <a:picLocks noChangeAspect="1"/>
          </p:cNvPicPr>
          <p:nvPr/>
        </p:nvPicPr>
        <p:blipFill>
          <a:blip r:embed="rId2"/>
          <a:stretch>
            <a:fillRect/>
          </a:stretch>
        </p:blipFill>
        <p:spPr>
          <a:xfrm>
            <a:off x="5669280" y="1645920"/>
            <a:ext cx="5608015" cy="3130055"/>
          </a:xfrm>
          <a:prstGeom prst="rect">
            <a:avLst/>
          </a:prstGeom>
        </p:spPr>
      </p:pic>
      <p:sp>
        <p:nvSpPr>
          <p:cNvPr id="9" name="TextBox 8"/>
          <p:cNvSpPr txBox="1"/>
          <p:nvPr/>
        </p:nvSpPr>
        <p:spPr>
          <a:xfrm>
            <a:off x="5669280" y="5806440"/>
            <a:ext cx="5608015" cy="320040"/>
          </a:xfrm>
          <a:prstGeom prst="rect">
            <a:avLst/>
          </a:prstGeom>
          <a:noFill/>
        </p:spPr>
        <p:txBody>
          <a:bodyPr wrap="none">
            <a:spAutoFit/>
          </a:bodyPr>
          <a:lstStyle/>
          <a:p>
            <a:pPr algn="ctr">
              <a:defRPr sz="950" i="1">
                <a:solidFill>
                  <a:srgbClr val="64748B"/>
                </a:solidFill>
                <a:latin typeface="Calibri"/>
              </a:defRPr>
            </a:pPr>
            <a:r>
              <a:t>Figura 1: Diagrama de conexionado eléctrico del banco Monóptero 1 GDL.</a:t>
            </a:r>
          </a:p>
        </p:txBody>
      </p:sp>
      <p:sp>
        <p:nvSpPr>
          <p:cNvPr id="10" name="TextBox 9"/>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Control I — Universidad del Magdalena | Etapa 1: Caracterización y Modelado Dinámico</a:t>
            </a:r>
          </a:p>
        </p:txBody>
      </p:sp>
      <p:sp>
        <p:nvSpPr>
          <p:cNvPr id="11" name="TextBox 10"/>
          <p:cNvSpPr txBox="1"/>
          <p:nvPr/>
        </p:nvSpPr>
        <p:spPr>
          <a:xfrm>
            <a:off x="10972800" y="6400800"/>
            <a:ext cx="640080" cy="320040"/>
          </a:xfrm>
          <a:prstGeom prst="rect">
            <a:avLst/>
          </a:prstGeom>
          <a:noFill/>
        </p:spPr>
        <p:txBody>
          <a:bodyPr wrap="none" lIns="0" tIns="0" rIns="0" bIns="0">
            <a:spAutoFit/>
          </a:bodyPr>
          <a:lstStyle/>
          <a:p>
            <a:pPr algn="r">
              <a:defRPr sz="900" b="1">
                <a:solidFill>
                  <a:srgbClr val="64748B"/>
                </a:solidFill>
                <a:latin typeface="Segoe UI"/>
              </a:defRPr>
            </a:pPr>
            <a: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300"/>
              </a:spcAft>
              <a:defRPr sz="1000" b="1">
                <a:solidFill>
                  <a:srgbClr val="0284C7"/>
                </a:solidFill>
                <a:latin typeface="Segoe UI"/>
              </a:defRPr>
            </a:pPr>
            <a:r>
              <a:t>FUNDAMENTACIÓN MATEMÁTICA</a:t>
            </a:r>
          </a:p>
          <a:p>
            <a:pPr>
              <a:defRPr sz="2200" b="1">
                <a:solidFill>
                  <a:srgbClr val="0F2541"/>
                </a:solidFill>
                <a:latin typeface="Segoe UI"/>
              </a:defRPr>
            </a:pPr>
            <a:r>
              <a:t>Modelado Dinámico FOPDT y Principio de Polos Dominantes</a:t>
            </a:r>
          </a:p>
        </p:txBody>
      </p:sp>
      <p:sp>
        <p:nvSpPr>
          <p:cNvPr id="5" name="Rounded Rectangle 4"/>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572000" cy="4297680"/>
          </a:xfrm>
          <a:prstGeom prst="rect">
            <a:avLst/>
          </a:prstGeom>
          <a:noFill/>
        </p:spPr>
        <p:txBody>
          <a:bodyPr wrap="square">
            <a:spAutoFit/>
          </a:bodyPr>
          <a:lstStyle/>
          <a:p>
            <a:pPr>
              <a:spcAft>
                <a:spcPts val="400"/>
              </a:spcAft>
              <a:defRPr sz="1400" b="1">
                <a:solidFill>
                  <a:srgbClr val="0F2541"/>
                </a:solidFill>
                <a:latin typeface="Segoe UI"/>
              </a:defRPr>
            </a:pPr>
            <a:r>
              <a:t>Ecuación Estándar FOPDT</a:t>
            </a:r>
          </a:p>
          <a:p>
            <a:pPr>
              <a:spcAft>
                <a:spcPts val="1200"/>
              </a:spcAft>
              <a:defRPr sz="1300" b="1">
                <a:solidFill>
                  <a:srgbClr val="0284C7"/>
                </a:solidFill>
                <a:latin typeface="Consolas"/>
              </a:defRPr>
            </a:pPr>
            <a:r>
              <a:t>G_p(s) = (K · e^(-t0·s)) / (tau·s + 1)</a:t>
            </a:r>
          </a:p>
          <a:p>
            <a:pPr>
              <a:spcAft>
                <a:spcPts val="400"/>
              </a:spcAft>
              <a:defRPr sz="1200" b="1">
                <a:solidFill>
                  <a:srgbClr val="0F2541"/>
                </a:solidFill>
                <a:latin typeface="Segoe UI"/>
              </a:defRPr>
            </a:pPr>
            <a:r>
              <a:t>Justificación Física de Reducción de Orden:</a:t>
            </a:r>
          </a:p>
          <a:p>
            <a:pPr>
              <a:spcAft>
                <a:spcPts val="600"/>
              </a:spcAft>
              <a:defRPr sz="1100">
                <a:solidFill>
                  <a:srgbClr val="1E293B"/>
                </a:solidFill>
                <a:latin typeface="Consolas"/>
              </a:defRPr>
            </a:pPr>
            <a:r>
              <a:t>m · y''(t) + B · y'(t) + m·g = F_t(t)</a:t>
            </a:r>
          </a:p>
          <a:p>
            <a:pPr>
              <a:defRPr sz="1050">
                <a:solidFill>
                  <a:srgbClr val="64748B"/>
                </a:solidFill>
                <a:latin typeface="Calibri"/>
              </a:defRPr>
            </a:pPr>
            <a:r>
              <a:t>• Una planta inercial de 2.º orden se aproxima a 1.er orden debido a que la elevada fricción viscosa en las columnas de guiado (B &gt;&gt; m) y la aerodinámica generan un polo dominante.</a:t>
            </a:r>
            <a:br/>
            <a:r>
              <a:t>• El polo rápido decae en milisegundos, quedando un único polo real que gobierna la envolvente transitoria.</a:t>
            </a:r>
          </a:p>
        </p:txBody>
      </p:sp>
      <p:sp>
        <p:nvSpPr>
          <p:cNvPr id="7" name="Rounded Rectangle 6"/>
          <p:cNvSpPr/>
          <p:nvPr/>
        </p:nvSpPr>
        <p:spPr>
          <a:xfrm>
            <a:off x="6035040" y="1463040"/>
            <a:ext cx="542513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645920"/>
            <a:ext cx="4876495" cy="4297680"/>
          </a:xfrm>
          <a:prstGeom prst="rect">
            <a:avLst/>
          </a:prstGeom>
          <a:noFill/>
        </p:spPr>
        <p:txBody>
          <a:bodyPr wrap="square">
            <a:spAutoFit/>
          </a:bodyPr>
          <a:lstStyle/>
          <a:p>
            <a:pPr>
              <a:spcAft>
                <a:spcPts val="600"/>
              </a:spcAft>
              <a:defRPr sz="1400" b="1">
                <a:solidFill>
                  <a:srgbClr val="0F2541"/>
                </a:solidFill>
                <a:latin typeface="Segoe UI"/>
              </a:defRPr>
            </a:pPr>
            <a:r>
              <a:t>Principio de Control: Polos y Estabilidad</a:t>
            </a:r>
          </a:p>
          <a:p>
            <a:pPr>
              <a:spcAft>
                <a:spcPts val="1000"/>
              </a:spcAft>
              <a:defRPr sz="1300" b="1">
                <a:solidFill>
                  <a:srgbClr val="0284C7"/>
                </a:solidFill>
                <a:latin typeface="Consolas"/>
              </a:defRPr>
            </a:pPr>
            <a:r>
              <a:t>G(s) = N(s) / D(s)</a:t>
            </a:r>
          </a:p>
          <a:p>
            <a:pPr>
              <a:spcAft>
                <a:spcPts val="400"/>
              </a:spcAft>
              <a:defRPr sz="1200" b="1">
                <a:solidFill>
                  <a:srgbClr val="0F2541"/>
                </a:solidFill>
                <a:latin typeface="Segoe UI"/>
              </a:defRPr>
            </a:pPr>
            <a:r>
              <a:t>Aporte Teórico Fundamental:</a:t>
            </a:r>
          </a:p>
          <a:p>
            <a:pPr>
              <a:spcAft>
                <a:spcPts val="600"/>
              </a:spcAft>
              <a:defRPr sz="1050" b="1">
                <a:solidFill>
                  <a:srgbClr val="1E293B"/>
                </a:solidFill>
                <a:latin typeface="Calibri"/>
              </a:defRPr>
            </a:pPr>
            <a:r>
              <a:t>•  Raíces del Denominador (Polos): </a:t>
            </a:r>
            <a:r>
              <a:rPr b="0">
                <a:solidFill>
                  <a:srgbClr val="64748B"/>
                </a:solidFill>
              </a:rPr>
              <a:t>Las raíces de D(s) = 0 dictan el régimen transitorio y la estabilidad asintótica natural del sistema.</a:t>
            </a:r>
          </a:p>
          <a:p>
            <a:pPr>
              <a:spcAft>
                <a:spcPts val="600"/>
              </a:spcAft>
              <a:defRPr sz="1050" b="1">
                <a:solidFill>
                  <a:srgbClr val="1E293B"/>
                </a:solidFill>
                <a:latin typeface="Calibri"/>
              </a:defRPr>
            </a:pPr>
            <a:r>
              <a:t>•  Comportamiento Aoscilatorio: </a:t>
            </a:r>
            <a:r>
              <a:rPr b="0">
                <a:solidFill>
                  <a:srgbClr val="64748B"/>
                </a:solidFill>
              </a:rPr>
              <a:t>Al poseer un único polo real en el semiplano izquierdo (LHP), la respuesta al escalón es monótona creciente, estrictamente libre de sobreimpulsos o resonancias.</a:t>
            </a:r>
          </a:p>
          <a:p>
            <a:pPr>
              <a:spcAft>
                <a:spcPts val="600"/>
              </a:spcAft>
              <a:defRPr sz="1050" b="1">
                <a:solidFill>
                  <a:srgbClr val="1E293B"/>
                </a:solidFill>
                <a:latin typeface="Calibri"/>
              </a:defRPr>
            </a:pPr>
            <a:r>
              <a:t>•  Parámetros FOPDT: </a:t>
            </a:r>
            <a:r>
              <a:rPr b="0">
                <a:solidFill>
                  <a:srgbClr val="64748B"/>
                </a:solidFill>
              </a:rPr>
              <a:t>K: Ganancia estática (sensibilidad permanente).
tau: Inercia temporal (velocidad de ascenso).
t0: Retardo acumulado (latencia de actuador y sensor).</a:t>
            </a:r>
          </a:p>
        </p:txBody>
      </p:sp>
      <p:sp>
        <p:nvSpPr>
          <p:cNvPr id="9" name="TextBox 8"/>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Control I — Universidad del Magdalena | Etapa 1: Caracterización y Modelado Dinámico</a:t>
            </a:r>
          </a:p>
        </p:txBody>
      </p:sp>
      <p:sp>
        <p:nvSpPr>
          <p:cNvPr id="10" name="TextBox 9"/>
          <p:cNvSpPr txBox="1"/>
          <p:nvPr/>
        </p:nvSpPr>
        <p:spPr>
          <a:xfrm>
            <a:off x="10972800" y="6400800"/>
            <a:ext cx="640080" cy="320040"/>
          </a:xfrm>
          <a:prstGeom prst="rect">
            <a:avLst/>
          </a:prstGeom>
          <a:noFill/>
        </p:spPr>
        <p:txBody>
          <a:bodyPr wrap="none" lIns="0" tIns="0" rIns="0" bIns="0">
            <a:spAutoFit/>
          </a:bodyPr>
          <a:lstStyle/>
          <a:p>
            <a:pPr algn="r">
              <a:defRPr sz="900" b="1">
                <a:solidFill>
                  <a:srgbClr val="64748B"/>
                </a:solidFill>
                <a:latin typeface="Segoe UI"/>
              </a:defRPr>
            </a:pPr>
            <a: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300"/>
              </a:spcAft>
              <a:defRPr sz="1000" b="1">
                <a:solidFill>
                  <a:srgbClr val="0284C7"/>
                </a:solidFill>
                <a:latin typeface="Segoe UI"/>
              </a:defRPr>
            </a:pPr>
            <a:r>
              <a:t>FENOMENOLOGÍA Y AJUSTE</a:t>
            </a:r>
          </a:p>
          <a:p>
            <a:pPr>
              <a:defRPr sz="2200" b="1">
                <a:solidFill>
                  <a:srgbClr val="0F2541"/>
                </a:solidFill>
                <a:latin typeface="Segoe UI"/>
              </a:defRPr>
            </a:pPr>
            <a:r>
              <a:t>Linealización en Hovering y Ventaja del Método Fit 3</a:t>
            </a:r>
          </a:p>
        </p:txBody>
      </p:sp>
      <p:sp>
        <p:nvSpPr>
          <p:cNvPr id="5" name="Rounded Rectangle 4"/>
          <p:cNvSpPr/>
          <p:nvPr/>
        </p:nvSpPr>
        <p:spPr>
          <a:xfrm>
            <a:off x="731520" y="1463040"/>
            <a:ext cx="47548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206240" cy="4297680"/>
          </a:xfrm>
          <a:prstGeom prst="rect">
            <a:avLst/>
          </a:prstGeom>
          <a:noFill/>
        </p:spPr>
        <p:txBody>
          <a:bodyPr wrap="square">
            <a:spAutoFit/>
          </a:bodyPr>
          <a:lstStyle/>
          <a:p>
            <a:pPr>
              <a:spcAft>
                <a:spcPts val="600"/>
              </a:spcAft>
              <a:defRPr sz="1400" b="1">
                <a:solidFill>
                  <a:srgbClr val="0F2541"/>
                </a:solidFill>
                <a:latin typeface="Segoe UI"/>
              </a:defRPr>
            </a:pPr>
            <a:r>
              <a:t>Linealización y Punto de Operación</a:t>
            </a:r>
          </a:p>
          <a:p>
            <a:pPr>
              <a:spcAft>
                <a:spcPts val="600"/>
              </a:spcAft>
              <a:defRPr sz="1050" b="1">
                <a:solidFill>
                  <a:srgbClr val="1E293B"/>
                </a:solidFill>
                <a:latin typeface="Calibri"/>
              </a:defRPr>
            </a:pPr>
            <a:r>
              <a:t>•  No Linealidades Severas: </a:t>
            </a:r>
            <a:r>
              <a:rPr b="0">
                <a:solidFill>
                  <a:srgbClr val="64748B"/>
                </a:solidFill>
              </a:rPr>
              <a:t>Empuje aerodinámico cuadrático respecto a la velocidad angular (Ft ∝ u^2) y zona muerta inicial (se requiere Ft ≥ m·g para vencer la gravedad).</a:t>
            </a:r>
          </a:p>
          <a:p>
            <a:pPr>
              <a:spcAft>
                <a:spcPts val="600"/>
              </a:spcAft>
              <a:defRPr sz="1050" b="1">
                <a:solidFill>
                  <a:srgbClr val="1E293B"/>
                </a:solidFill>
                <a:latin typeface="Calibri"/>
              </a:defRPr>
            </a:pPr>
            <a:r>
              <a:t>•  Punto de Operación (Hovering): </a:t>
            </a:r>
            <a:r>
              <a:rPr b="0">
                <a:solidFill>
                  <a:srgbClr val="64748B"/>
                </a:solidFill>
              </a:rPr>
              <a:t>Calibrado experimentalmente en u0 = 1762 µs, logrando altura estacionaria en y0 = 13.45 cm (evadiendo turbulencias del efecto suelo).</a:t>
            </a:r>
          </a:p>
          <a:p>
            <a:pPr>
              <a:spcAft>
                <a:spcPts val="600"/>
              </a:spcAft>
              <a:defRPr sz="1050" b="1">
                <a:solidFill>
                  <a:srgbClr val="1E293B"/>
                </a:solidFill>
                <a:latin typeface="Calibri"/>
              </a:defRPr>
            </a:pPr>
            <a:r>
              <a:t>•  Ventaja de Fit 3 (Smith &amp; Corripio): </a:t>
            </a:r>
            <a:r>
              <a:rPr b="0">
                <a:solidFill>
                  <a:srgbClr val="64748B"/>
                </a:solidFill>
              </a:rPr>
              <a:t>Evalúa analíticamente los niveles de respuesta al 28.3% (t1) y 63.2% (t2). Evita la subjetividad y el ruido asociados al trazado manual de rectas tangentes en Fit 1.</a:t>
            </a:r>
          </a:p>
          <a:p>
            <a:pPr>
              <a:spcAft>
                <a:spcPts val="600"/>
              </a:spcAft>
              <a:defRPr sz="1050" b="1">
                <a:solidFill>
                  <a:srgbClr val="1E293B"/>
                </a:solidFill>
                <a:latin typeface="Calibri"/>
              </a:defRPr>
            </a:pPr>
            <a:r>
              <a:t>•  Formulación Analítica: </a:t>
            </a:r>
            <a:r>
              <a:rPr b="0">
                <a:solidFill>
                  <a:srgbClr val="64748B"/>
                </a:solidFill>
              </a:rPr>
              <a:t>tau = 1.5 · (t2 - t1)
t0 = t2 - tau
K = Delta_y / Delta_u</a:t>
            </a:r>
          </a:p>
        </p:txBody>
      </p:sp>
      <p:sp>
        <p:nvSpPr>
          <p:cNvPr id="7" name="Rounded Rectangle 6"/>
          <p:cNvSpPr/>
          <p:nvPr/>
        </p:nvSpPr>
        <p:spPr>
          <a:xfrm>
            <a:off x="5669280" y="1463040"/>
            <a:ext cx="579089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0" y="1645920"/>
            <a:ext cx="5212080" cy="365760"/>
          </a:xfrm>
          <a:prstGeom prst="rect">
            <a:avLst/>
          </a:prstGeom>
          <a:noFill/>
        </p:spPr>
        <p:txBody>
          <a:bodyPr wrap="none">
            <a:spAutoFit/>
          </a:bodyPr>
          <a:lstStyle/>
          <a:p>
            <a:pPr>
              <a:defRPr sz="1300" b="1">
                <a:solidFill>
                  <a:srgbClr val="0F2541"/>
                </a:solidFill>
                <a:latin typeface="Segoe UI"/>
              </a:defRPr>
            </a:pPr>
            <a:r>
              <a:t>Señal de Excitación PWM (Hovering y Escalón)</a:t>
            </a:r>
          </a:p>
        </p:txBody>
      </p:sp>
      <p:pic>
        <p:nvPicPr>
          <p:cNvPr id="9" name="Picture 8" descr="segundo grafico.png"/>
          <p:cNvPicPr>
            <a:picLocks noChangeAspect="1"/>
          </p:cNvPicPr>
          <p:nvPr/>
        </p:nvPicPr>
        <p:blipFill>
          <a:blip r:embed="rId2"/>
          <a:stretch>
            <a:fillRect/>
          </a:stretch>
        </p:blipFill>
        <p:spPr>
          <a:xfrm>
            <a:off x="5852160" y="2148840"/>
            <a:ext cx="5425135" cy="1937891"/>
          </a:xfrm>
          <a:prstGeom prst="rect">
            <a:avLst/>
          </a:prstGeom>
        </p:spPr>
      </p:pic>
      <p:sp>
        <p:nvSpPr>
          <p:cNvPr id="10" name="TextBox 9"/>
          <p:cNvSpPr txBox="1"/>
          <p:nvPr/>
        </p:nvSpPr>
        <p:spPr>
          <a:xfrm>
            <a:off x="5943600" y="4480560"/>
            <a:ext cx="5212080" cy="1554480"/>
          </a:xfrm>
          <a:prstGeom prst="rect">
            <a:avLst/>
          </a:prstGeom>
          <a:noFill/>
        </p:spPr>
        <p:txBody>
          <a:bodyPr wrap="square">
            <a:spAutoFit/>
          </a:bodyPr>
          <a:lstStyle/>
          <a:p>
            <a:pPr>
              <a:defRPr sz="1050">
                <a:solidFill>
                  <a:srgbClr val="64748B"/>
                </a:solidFill>
                <a:latin typeface="Calibri"/>
              </a:defRPr>
            </a:pPr>
            <a:r>
              <a:t>• Operación en Hovering: u0 = 1762 µs por 5 s (condición dy/dt ≈ 0).</a:t>
            </a:r>
            <a:br/>
            <a:r>
              <a:t>• Inyección del Escalón: Salto de Delta_u = +50 µs alcanzando u_inf = 1812 µs.</a:t>
            </a:r>
            <a:br/>
            <a:r>
              <a:t>• Variación controlada de solo 2.8% del rango ESC: garantiza validez de la aproximación lineal.</a:t>
            </a:r>
          </a:p>
        </p:txBody>
      </p:sp>
      <p:sp>
        <p:nvSpPr>
          <p:cNvPr id="11" name="TextBox 10"/>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Control I — Universidad del Magdalena | Etapa 1: Caracterización y Modelado Dinámico</a:t>
            </a:r>
          </a:p>
        </p:txBody>
      </p:sp>
      <p:sp>
        <p:nvSpPr>
          <p:cNvPr id="12" name="TextBox 11"/>
          <p:cNvSpPr txBox="1"/>
          <p:nvPr/>
        </p:nvSpPr>
        <p:spPr>
          <a:xfrm>
            <a:off x="10972800" y="6400800"/>
            <a:ext cx="640080" cy="320040"/>
          </a:xfrm>
          <a:prstGeom prst="rect">
            <a:avLst/>
          </a:prstGeom>
          <a:noFill/>
        </p:spPr>
        <p:txBody>
          <a:bodyPr wrap="none" lIns="0" tIns="0" rIns="0" bIns="0">
            <a:spAutoFit/>
          </a:bodyPr>
          <a:lstStyle/>
          <a:p>
            <a:pPr algn="r">
              <a:defRPr sz="900" b="1">
                <a:solidFill>
                  <a:srgbClr val="64748B"/>
                </a:solidFill>
                <a:latin typeface="Segoe UI"/>
              </a:defRPr>
            </a:pPr>
            <a: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300"/>
              </a:spcAft>
              <a:defRPr sz="1000" b="1">
                <a:solidFill>
                  <a:srgbClr val="0284C7"/>
                </a:solidFill>
                <a:latin typeface="Segoe UI"/>
              </a:defRPr>
            </a:pPr>
            <a:r>
              <a:t>METODOLOGÍA EXPERIMENTAL</a:t>
            </a:r>
          </a:p>
          <a:p>
            <a:pPr>
              <a:defRPr sz="2200" b="1">
                <a:solidFill>
                  <a:srgbClr val="0F2541"/>
                </a:solidFill>
                <a:latin typeface="Segoe UI"/>
              </a:defRPr>
            </a:pPr>
            <a:r>
              <a:t>Protocolo de Ensayo, Filtrado Digital y Respuesta Cinemática</a:t>
            </a:r>
          </a:p>
        </p:txBody>
      </p:sp>
      <p:sp>
        <p:nvSpPr>
          <p:cNvPr id="5" name="Rounded Rectangle 4"/>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572000" cy="4297680"/>
          </a:xfrm>
          <a:prstGeom prst="rect">
            <a:avLst/>
          </a:prstGeom>
          <a:noFill/>
        </p:spPr>
        <p:txBody>
          <a:bodyPr wrap="square">
            <a:spAutoFit/>
          </a:bodyPr>
          <a:lstStyle/>
          <a:p>
            <a:pPr>
              <a:spcAft>
                <a:spcPts val="800"/>
              </a:spcAft>
              <a:defRPr sz="1400" b="1">
                <a:solidFill>
                  <a:srgbClr val="0F2541"/>
                </a:solidFill>
                <a:latin typeface="Segoe UI"/>
              </a:defRPr>
            </a:pPr>
            <a:r>
              <a:t>Protocolo de Excitación y Estabilización</a:t>
            </a:r>
          </a:p>
          <a:p>
            <a:pPr>
              <a:spcAft>
                <a:spcPts val="600"/>
              </a:spcAft>
              <a:defRPr sz="1050" b="1">
                <a:solidFill>
                  <a:srgbClr val="1E293B"/>
                </a:solidFill>
                <a:latin typeface="Calibri"/>
              </a:defRPr>
            </a:pPr>
            <a:r>
              <a:t>•  Sustentación Previa (5 s): </a:t>
            </a:r>
            <a:r>
              <a:rPr b="0">
                <a:solidFill>
                  <a:srgbClr val="64748B"/>
                </a:solidFill>
              </a:rPr>
              <a:t>Se aseguró sustentación estable por 5 segundos verificando dy/dt ≈ 0 antes de perturbar el sistema.</a:t>
            </a:r>
          </a:p>
          <a:p>
            <a:pPr>
              <a:spcAft>
                <a:spcPts val="600"/>
              </a:spcAft>
              <a:defRPr sz="1050" b="1">
                <a:solidFill>
                  <a:srgbClr val="1E293B"/>
                </a:solidFill>
                <a:latin typeface="Calibri"/>
              </a:defRPr>
            </a:pPr>
            <a:r>
              <a:t>•  Inyección del Escalón: </a:t>
            </a:r>
            <a:r>
              <a:rPr b="0">
                <a:solidFill>
                  <a:srgbClr val="64748B"/>
                </a:solidFill>
              </a:rPr>
              <a:t>Se inyectó un escalón Delta_u = 50 µs, elevando el PWM de u0 = 1762 µs a u_inf = 1812 µs a periodo Ts = 50 ms.</a:t>
            </a:r>
          </a:p>
          <a:p>
            <a:pPr>
              <a:spcAft>
                <a:spcPts val="600"/>
              </a:spcAft>
              <a:defRPr sz="1050" b="1">
                <a:solidFill>
                  <a:srgbClr val="1E293B"/>
                </a:solidFill>
                <a:latin typeface="Calibri"/>
              </a:defRPr>
            </a:pPr>
            <a:r>
              <a:t>•  Procesamiento Digital: </a:t>
            </a:r>
            <a:r>
              <a:rPr b="0">
                <a:solidFill>
                  <a:srgbClr val="64748B"/>
                </a:solidFill>
              </a:rPr>
              <a:t>Aplicación de un filtro de mediana de orden 5 para rechazar valores atípicos (outliers) del sensor ultrasónico sin distorsionar la fase de la señal ni falsear el tiempo muerto.</a:t>
            </a:r>
          </a:p>
          <a:p>
            <a:pPr>
              <a:spcAft>
                <a:spcPts val="600"/>
              </a:spcAft>
              <a:defRPr sz="1050" b="1">
                <a:solidFill>
                  <a:srgbClr val="1E293B"/>
                </a:solidFill>
                <a:latin typeface="Calibri"/>
              </a:defRPr>
            </a:pPr>
            <a:r>
              <a:t>•  Respuesta Física Obtenida: </a:t>
            </a:r>
            <a:r>
              <a:rPr b="0">
                <a:solidFill>
                  <a:srgbClr val="64748B"/>
                </a:solidFill>
              </a:rPr>
              <a:t>El carro se estabilizó asintóticamente en y_inf = 34.96 cm, partiendo de y0 = 13.45 cm, registrando un salto neto Delta_y = 21.51 cm.</a:t>
            </a:r>
          </a:p>
        </p:txBody>
      </p:sp>
      <p:sp>
        <p:nvSpPr>
          <p:cNvPr id="7" name="Rounded Rectangle 6"/>
          <p:cNvSpPr/>
          <p:nvPr/>
        </p:nvSpPr>
        <p:spPr>
          <a:xfrm>
            <a:off x="6035040" y="1463040"/>
            <a:ext cx="542513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645920"/>
            <a:ext cx="4876495" cy="4297680"/>
          </a:xfrm>
          <a:prstGeom prst="rect">
            <a:avLst/>
          </a:prstGeom>
          <a:noFill/>
        </p:spPr>
        <p:txBody>
          <a:bodyPr wrap="square">
            <a:spAutoFit/>
          </a:bodyPr>
          <a:lstStyle/>
          <a:p>
            <a:pPr>
              <a:spcAft>
                <a:spcPts val="800"/>
              </a:spcAft>
              <a:defRPr sz="1400" b="1">
                <a:solidFill>
                  <a:srgbClr val="0F2541"/>
                </a:solidFill>
                <a:latin typeface="Segoe UI"/>
              </a:defRPr>
            </a:pPr>
            <a:r>
              <a:t>Cálculo Numérico con Fit 3</a:t>
            </a:r>
          </a:p>
          <a:p>
            <a:pPr>
              <a:defRPr sz="1050" b="1">
                <a:solidFill>
                  <a:srgbClr val="0284C7"/>
                </a:solidFill>
                <a:latin typeface="Segoe UI"/>
              </a:defRPr>
            </a:pPr>
            <a:r>
              <a:t>Nivel 28.3% (t1)</a:t>
            </a:r>
          </a:p>
          <a:p>
            <a:pPr>
              <a:spcAft>
                <a:spcPts val="500"/>
              </a:spcAft>
              <a:defRPr sz="1100" b="1">
                <a:solidFill>
                  <a:srgbClr val="1E293B"/>
                </a:solidFill>
                <a:latin typeface="Consolas"/>
              </a:defRPr>
            </a:pPr>
            <a:r>
              <a:t>y(t1) = 13.45 + 0.283 · (21.51) = 19.54 cm</a:t>
            </a:r>
            <a:br/>
            <a:r>
              <a:t>--&gt; t1 = 0.6427 s (interpolado con interp1)</a:t>
            </a:r>
          </a:p>
          <a:p>
            <a:pPr>
              <a:defRPr sz="1050" b="1">
                <a:solidFill>
                  <a:srgbClr val="0284C7"/>
                </a:solidFill>
                <a:latin typeface="Segoe UI"/>
              </a:defRPr>
            </a:pPr>
            <a:r>
              <a:t>Nivel 63.2% (t2)</a:t>
            </a:r>
          </a:p>
          <a:p>
            <a:pPr>
              <a:spcAft>
                <a:spcPts val="500"/>
              </a:spcAft>
              <a:defRPr sz="1100" b="1">
                <a:solidFill>
                  <a:srgbClr val="1E293B"/>
                </a:solidFill>
                <a:latin typeface="Consolas"/>
              </a:defRPr>
            </a:pPr>
            <a:r>
              <a:t>y(t2) = 13.45 + 0.632 · (21.51) = 27.04 cm</a:t>
            </a:r>
            <a:br/>
            <a:r>
              <a:t>--&gt; t2 = 1.6906 s (interpolado con interp1)</a:t>
            </a:r>
          </a:p>
          <a:p>
            <a:pPr>
              <a:defRPr sz="1050" b="1">
                <a:solidFill>
                  <a:srgbClr val="0284C7"/>
                </a:solidFill>
                <a:latin typeface="Segoe UI"/>
              </a:defRPr>
            </a:pPr>
            <a:r>
              <a:t>Constante de Tiempo (tau)</a:t>
            </a:r>
          </a:p>
          <a:p>
            <a:pPr>
              <a:spcAft>
                <a:spcPts val="500"/>
              </a:spcAft>
              <a:defRPr sz="1100" b="1">
                <a:solidFill>
                  <a:srgbClr val="1E293B"/>
                </a:solidFill>
                <a:latin typeface="Consolas"/>
              </a:defRPr>
            </a:pPr>
            <a:r>
              <a:t>tau = 1.5 · (1.6906 - 0.6427) = 1.5719 s</a:t>
            </a:r>
          </a:p>
          <a:p>
            <a:pPr>
              <a:defRPr sz="1050" b="1">
                <a:solidFill>
                  <a:srgbClr val="0284C7"/>
                </a:solidFill>
                <a:latin typeface="Segoe UI"/>
              </a:defRPr>
            </a:pPr>
            <a:r>
              <a:t>Retardo Aparente (t0)</a:t>
            </a:r>
          </a:p>
          <a:p>
            <a:pPr>
              <a:spcAft>
                <a:spcPts val="500"/>
              </a:spcAft>
              <a:defRPr sz="1100" b="1">
                <a:solidFill>
                  <a:srgbClr val="1E293B"/>
                </a:solidFill>
                <a:latin typeface="Consolas"/>
              </a:defRPr>
            </a:pPr>
            <a:r>
              <a:t>t0 = 1.6906 - 1.5719 = 0.1188 s</a:t>
            </a:r>
          </a:p>
          <a:p>
            <a:pPr>
              <a:defRPr sz="1050" b="1">
                <a:solidFill>
                  <a:srgbClr val="0284C7"/>
                </a:solidFill>
                <a:latin typeface="Segoe UI"/>
              </a:defRPr>
            </a:pPr>
            <a:r>
              <a:t>Ganancia Estática (K)</a:t>
            </a:r>
          </a:p>
          <a:p>
            <a:pPr>
              <a:spcAft>
                <a:spcPts val="500"/>
              </a:spcAft>
              <a:defRPr sz="1100" b="1">
                <a:solidFill>
                  <a:srgbClr val="1E293B"/>
                </a:solidFill>
                <a:latin typeface="Consolas"/>
              </a:defRPr>
            </a:pPr>
            <a:r>
              <a:t>K = 21.51 cm / 50 µs = 0.4302 cm/µs</a:t>
            </a:r>
          </a:p>
        </p:txBody>
      </p:sp>
      <p:sp>
        <p:nvSpPr>
          <p:cNvPr id="9" name="TextBox 8"/>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Control I — Universidad del Magdalena | Etapa 1: Caracterización y Modelado Dinámico</a:t>
            </a:r>
          </a:p>
        </p:txBody>
      </p:sp>
      <p:sp>
        <p:nvSpPr>
          <p:cNvPr id="10" name="TextBox 9"/>
          <p:cNvSpPr txBox="1"/>
          <p:nvPr/>
        </p:nvSpPr>
        <p:spPr>
          <a:xfrm>
            <a:off x="10972800" y="6400800"/>
            <a:ext cx="640080" cy="320040"/>
          </a:xfrm>
          <a:prstGeom prst="rect">
            <a:avLst/>
          </a:prstGeom>
          <a:noFill/>
        </p:spPr>
        <p:txBody>
          <a:bodyPr wrap="none" lIns="0" tIns="0" rIns="0" bIns="0">
            <a:spAutoFit/>
          </a:bodyPr>
          <a:lstStyle/>
          <a:p>
            <a:pPr algn="r">
              <a:defRPr sz="900" b="1">
                <a:solidFill>
                  <a:srgbClr val="64748B"/>
                </a:solidFill>
                <a:latin typeface="Segoe UI"/>
              </a:defRPr>
            </a:pPr>
            <a: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300"/>
              </a:spcAft>
              <a:defRPr sz="1000" b="1">
                <a:solidFill>
                  <a:srgbClr val="0284C7"/>
                </a:solidFill>
                <a:latin typeface="Segoe UI"/>
              </a:defRPr>
            </a:pPr>
            <a:r>
              <a:t>ENTORNO COMPUTACIONAL</a:t>
            </a:r>
          </a:p>
          <a:p>
            <a:pPr>
              <a:defRPr sz="2200" b="1">
                <a:solidFill>
                  <a:srgbClr val="0F2541"/>
                </a:solidFill>
                <a:latin typeface="Segoe UI"/>
              </a:defRPr>
            </a:pPr>
            <a:r>
              <a:t>Simulación en Simulink y Recomposición de Cota Absoluta</a:t>
            </a:r>
          </a:p>
        </p:txBody>
      </p:sp>
      <p:sp>
        <p:nvSpPr>
          <p:cNvPr id="5" name="Rounded Rectangle 4"/>
          <p:cNvSpPr/>
          <p:nvPr/>
        </p:nvSpPr>
        <p:spPr>
          <a:xfrm>
            <a:off x="731520" y="1463040"/>
            <a:ext cx="493776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389120" cy="4297680"/>
          </a:xfrm>
          <a:prstGeom prst="rect">
            <a:avLst/>
          </a:prstGeom>
          <a:noFill/>
        </p:spPr>
        <p:txBody>
          <a:bodyPr wrap="square">
            <a:spAutoFit/>
          </a:bodyPr>
          <a:lstStyle/>
          <a:p>
            <a:pPr>
              <a:spcAft>
                <a:spcPts val="800"/>
              </a:spcAft>
              <a:defRPr sz="1400" b="1">
                <a:solidFill>
                  <a:srgbClr val="0F2541"/>
                </a:solidFill>
                <a:latin typeface="Segoe UI"/>
              </a:defRPr>
            </a:pPr>
            <a:r>
              <a:t>Diagrama de Bloques Estructurado</a:t>
            </a:r>
          </a:p>
          <a:p>
            <a:pPr>
              <a:spcAft>
                <a:spcPts val="600"/>
              </a:spcAft>
              <a:defRPr sz="1050" b="1">
                <a:solidFill>
                  <a:srgbClr val="1E293B"/>
                </a:solidFill>
                <a:latin typeface="Calibri"/>
              </a:defRPr>
            </a:pPr>
            <a:r>
              <a:t>•  Variables Incrementales: </a:t>
            </a:r>
            <a:r>
              <a:rPr b="0">
                <a:solidFill>
                  <a:srgbClr val="64748B"/>
                </a:solidFill>
              </a:rPr>
              <a:t>La simulación opera sobre variables de desviación respecto al hovering: Delta_u(t) y Delta_y(t).</a:t>
            </a:r>
          </a:p>
          <a:p>
            <a:pPr>
              <a:spcAft>
                <a:spcPts val="600"/>
              </a:spcAft>
              <a:defRPr sz="1050" b="1">
                <a:solidFill>
                  <a:srgbClr val="1E293B"/>
                </a:solidFill>
                <a:latin typeface="Calibri"/>
              </a:defRPr>
            </a:pPr>
            <a:r>
              <a:t>•  Bloque Step: </a:t>
            </a:r>
            <a:r>
              <a:rPr b="0">
                <a:solidFill>
                  <a:srgbClr val="64748B"/>
                </a:solidFill>
              </a:rPr>
              <a:t>Aplica un salto unitario escalado de amplitud Delta_u = 50 µs en el instante de excitación.</a:t>
            </a:r>
          </a:p>
          <a:p>
            <a:pPr>
              <a:spcAft>
                <a:spcPts val="600"/>
              </a:spcAft>
              <a:defRPr sz="1050" b="1">
                <a:solidFill>
                  <a:srgbClr val="1E293B"/>
                </a:solidFill>
                <a:latin typeface="Calibri"/>
              </a:defRPr>
            </a:pPr>
            <a:r>
              <a:t>•  Bloque Transfer Fcn: </a:t>
            </a:r>
            <a:r>
              <a:rPr b="0">
                <a:solidFill>
                  <a:srgbClr val="64748B"/>
                </a:solidFill>
              </a:rPr>
              <a:t>Implementa la dinámica continua de primer orden: Numerador = [0.4302], Denominador = [1.5719  1].</a:t>
            </a:r>
          </a:p>
          <a:p>
            <a:pPr>
              <a:spcAft>
                <a:spcPts val="600"/>
              </a:spcAft>
              <a:defRPr sz="1050" b="1">
                <a:solidFill>
                  <a:srgbClr val="1E293B"/>
                </a:solidFill>
                <a:latin typeface="Calibri"/>
              </a:defRPr>
            </a:pPr>
            <a:r>
              <a:t>•  Bloque Transport Delay: </a:t>
            </a:r>
            <a:r>
              <a:rPr b="0">
                <a:solidFill>
                  <a:srgbClr val="64748B"/>
                </a:solidFill>
              </a:rPr>
              <a:t>Introduce el retardo temporal puro t0 = 0.1188 s mediante buffer circular interno.</a:t>
            </a:r>
          </a:p>
          <a:p>
            <a:pPr>
              <a:spcAft>
                <a:spcPts val="600"/>
              </a:spcAft>
              <a:defRPr sz="1050" b="1">
                <a:solidFill>
                  <a:srgbClr val="1E293B"/>
                </a:solidFill>
                <a:latin typeface="Calibri"/>
              </a:defRPr>
            </a:pPr>
            <a:r>
              <a:t>•  Bloque Sum (Recomposición): </a:t>
            </a:r>
            <a:r>
              <a:rPr b="0">
                <a:solidFill>
                  <a:srgbClr val="64748B"/>
                </a:solidFill>
              </a:rPr>
              <a:t>Suma la condición inicial de sustentación y0 = 13.45 cm para obtener la cota absoluta: y(t) = 13.45 + Delta_y(t).</a:t>
            </a:r>
          </a:p>
        </p:txBody>
      </p:sp>
      <p:sp>
        <p:nvSpPr>
          <p:cNvPr id="7" name="Rounded Rectangle 6"/>
          <p:cNvSpPr/>
          <p:nvPr/>
        </p:nvSpPr>
        <p:spPr>
          <a:xfrm>
            <a:off x="5852160" y="1463040"/>
            <a:ext cx="560801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0" y="1645920"/>
            <a:ext cx="5029200" cy="4297680"/>
          </a:xfrm>
          <a:prstGeom prst="rect">
            <a:avLst/>
          </a:prstGeom>
          <a:noFill/>
        </p:spPr>
        <p:txBody>
          <a:bodyPr wrap="square">
            <a:spAutoFit/>
          </a:bodyPr>
          <a:lstStyle/>
          <a:p>
            <a:pPr>
              <a:spcAft>
                <a:spcPts val="1400"/>
              </a:spcAft>
              <a:defRPr sz="1300" b="1">
                <a:solidFill>
                  <a:srgbClr val="0F2541"/>
                </a:solidFill>
                <a:latin typeface="Segoe UI"/>
              </a:defRPr>
            </a:pPr>
            <a:r>
              <a:t>Arquitectura de Bloques en Cascada</a:t>
            </a:r>
          </a:p>
        </p:txBody>
      </p:sp>
      <p:sp>
        <p:nvSpPr>
          <p:cNvPr id="9" name="Rectangle 8"/>
          <p:cNvSpPr/>
          <p:nvPr/>
        </p:nvSpPr>
        <p:spPr>
          <a:xfrm>
            <a:off x="6217920" y="2286000"/>
            <a:ext cx="4846320" cy="256032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2377440"/>
            <a:ext cx="4663440" cy="2377440"/>
          </a:xfrm>
          <a:prstGeom prst="rect">
            <a:avLst/>
          </a:prstGeom>
          <a:noFill/>
        </p:spPr>
        <p:txBody>
          <a:bodyPr wrap="square">
            <a:spAutoFit/>
          </a:bodyPr>
          <a:lstStyle/>
          <a:p>
            <a:pPr algn="ctr">
              <a:spcAft>
                <a:spcPts val="1000"/>
              </a:spcAft>
              <a:defRPr sz="1100" b="1">
                <a:solidFill>
                  <a:srgbClr val="0284C7"/>
                </a:solidFill>
                <a:latin typeface="Segoe UI"/>
              </a:defRPr>
            </a:pPr>
            <a:r>
              <a:t>[Insertar Imagen: Diagrama de bloques estructurado en Simulink]</a:t>
            </a:r>
          </a:p>
          <a:p>
            <a:pPr>
              <a:defRPr sz="850">
                <a:solidFill>
                  <a:srgbClr val="1E293B"/>
                </a:solidFill>
                <a:latin typeface="Consolas"/>
              </a:defRPr>
            </a:pPr>
            <a:r>
              <a:t>Step (Δu=50) ──&gt; [ 0.4302/(1.5719s+1) ] ──&gt; [ e^(-0.1188s) ] ──&gt; ( + ) ──&gt; Scope y(t)</a:t>
            </a:r>
            <a:br/>
            <a:r>
              <a:t>                                                                 ▲</a:t>
            </a:r>
            <a:br/>
            <a:r>
              <a:t>                                            Constant (y0 = 13.45) ─┘</a:t>
            </a:r>
          </a:p>
        </p:txBody>
      </p:sp>
      <p:sp>
        <p:nvSpPr>
          <p:cNvPr id="11" name="TextBox 10"/>
          <p:cNvSpPr txBox="1"/>
          <p:nvPr/>
        </p:nvSpPr>
        <p:spPr>
          <a:xfrm>
            <a:off x="6126480" y="5120640"/>
            <a:ext cx="5029200" cy="914400"/>
          </a:xfrm>
          <a:prstGeom prst="rect">
            <a:avLst/>
          </a:prstGeom>
          <a:noFill/>
        </p:spPr>
        <p:txBody>
          <a:bodyPr wrap="square">
            <a:spAutoFit/>
          </a:bodyPr>
          <a:lstStyle/>
          <a:p>
            <a:pPr>
              <a:defRPr sz="1000">
                <a:solidFill>
                  <a:srgbClr val="64748B"/>
                </a:solidFill>
                <a:latin typeface="Calibri"/>
              </a:defRPr>
            </a:pPr>
            <a:r>
              <a:t>Validación Cruzada: La salida simulada reproduce analíticamente la ecuación diferencial, validando idéntica parametrización respecto a la función lsim() de MATLAB.</a:t>
            </a: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Control I — Universidad del Magdalena | Etapa 1: Caracterización y Modelado Dinámico</a:t>
            </a:r>
          </a:p>
        </p:txBody>
      </p:sp>
      <p:sp>
        <p:nvSpPr>
          <p:cNvPr id="13" name="TextBox 12"/>
          <p:cNvSpPr txBox="1"/>
          <p:nvPr/>
        </p:nvSpPr>
        <p:spPr>
          <a:xfrm>
            <a:off x="10972800" y="6400800"/>
            <a:ext cx="640080" cy="320040"/>
          </a:xfrm>
          <a:prstGeom prst="rect">
            <a:avLst/>
          </a:prstGeom>
          <a:noFill/>
        </p:spPr>
        <p:txBody>
          <a:bodyPr wrap="none" lIns="0" tIns="0" rIns="0" bIns="0">
            <a:spAutoFit/>
          </a:bodyPr>
          <a:lstStyle/>
          <a:p>
            <a:pPr algn="r">
              <a:defRPr sz="900" b="1">
                <a:solidFill>
                  <a:srgbClr val="64748B"/>
                </a:solidFill>
                <a:latin typeface="Segoe UI"/>
              </a:defRPr>
            </a:pPr>
            <a: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300"/>
              </a:spcAft>
              <a:defRPr sz="1000" b="1">
                <a:solidFill>
                  <a:srgbClr val="0284C7"/>
                </a:solidFill>
                <a:latin typeface="Segoe UI"/>
              </a:defRPr>
            </a:pPr>
            <a:r>
              <a:t>VALIDACIÓN EXPERIMENTAL</a:t>
            </a:r>
          </a:p>
          <a:p>
            <a:pPr>
              <a:defRPr sz="2200" b="1">
                <a:solidFill>
                  <a:srgbClr val="0F2541"/>
                </a:solidFill>
                <a:latin typeface="Segoe UI"/>
              </a:defRPr>
            </a:pPr>
            <a:r>
              <a:t>Parámetros Analíticos Identificados y Métricas de Ajuste</a:t>
            </a:r>
          </a:p>
        </p:txBody>
      </p:sp>
      <p:sp>
        <p:nvSpPr>
          <p:cNvPr id="5" name="Rounded Rectangle 4"/>
          <p:cNvSpPr/>
          <p:nvPr/>
        </p:nvSpPr>
        <p:spPr>
          <a:xfrm>
            <a:off x="731520" y="1463040"/>
            <a:ext cx="47548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206240" cy="365760"/>
          </a:xfrm>
          <a:prstGeom prst="rect">
            <a:avLst/>
          </a:prstGeom>
          <a:noFill/>
        </p:spPr>
        <p:txBody>
          <a:bodyPr wrap="none">
            <a:spAutoFit/>
          </a:bodyPr>
          <a:lstStyle/>
          <a:p>
            <a:pPr>
              <a:defRPr sz="1400" b="1">
                <a:solidFill>
                  <a:srgbClr val="0F2541"/>
                </a:solidFill>
                <a:latin typeface="Segoe UI"/>
              </a:defRPr>
            </a:pPr>
            <a:r>
              <a:t>Parámetros Oficiales del Modelo</a:t>
            </a:r>
          </a:p>
        </p:txBody>
      </p:sp>
      <p:graphicFrame>
        <p:nvGraphicFramePr>
          <p:cNvPr id="7" name="Table 6"/>
          <p:cNvGraphicFramePr>
            <a:graphicFrameLocks noGrp="1"/>
          </p:cNvGraphicFramePr>
          <p:nvPr/>
        </p:nvGraphicFramePr>
        <p:xfrm>
          <a:off x="914400" y="2103120"/>
          <a:ext cx="4389120" cy="3291840"/>
        </p:xfrm>
        <a:graphic>
          <a:graphicData uri="http://schemas.openxmlformats.org/drawingml/2006/table">
            <a:tbl>
              <a:tblPr firstRow="1" bandRow="1">
                <a:tableStyleId>{5C22544A-7EE6-4342-B048-85BDC9FD1C3A}</a:tableStyleId>
              </a:tblPr>
              <a:tblGrid>
                <a:gridCol w="1097280"/>
                <a:gridCol w="2103120"/>
                <a:gridCol w="1188720"/>
              </a:tblGrid>
              <a:tr h="365760">
                <a:tc>
                  <a:txBody>
                    <a:bodyPr/>
                    <a:lstStyle/>
                    <a:p>
                      <a:pPr algn="ctr">
                        <a:defRPr sz="1000" b="1">
                          <a:solidFill>
                            <a:srgbClr val="FFFFFF"/>
                          </a:solidFill>
                          <a:latin typeface="Segoe UI"/>
                        </a:defRPr>
                      </a:pPr>
                      <a:r>
                        <a:t>Parámetro</a:t>
                      </a:r>
                    </a:p>
                  </a:txBody>
                  <a:tcPr anchor="ctr">
                    <a:solidFill>
                      <a:srgbClr val="0F2541"/>
                    </a:solidFill>
                  </a:tcPr>
                </a:tc>
                <a:tc>
                  <a:txBody>
                    <a:bodyPr/>
                    <a:lstStyle/>
                    <a:p>
                      <a:pPr algn="l">
                        <a:defRPr sz="1000" b="1">
                          <a:solidFill>
                            <a:srgbClr val="FFFFFF"/>
                          </a:solidFill>
                          <a:latin typeface="Segoe UI"/>
                        </a:defRPr>
                      </a:pPr>
                      <a:r>
                        <a:t>Descripción</a:t>
                      </a:r>
                    </a:p>
                  </a:txBody>
                  <a:tcPr anchor="ctr">
                    <a:solidFill>
                      <a:srgbClr val="0F2541"/>
                    </a:solidFill>
                  </a:tcPr>
                </a:tc>
                <a:tc>
                  <a:txBody>
                    <a:bodyPr/>
                    <a:lstStyle/>
                    <a:p>
                      <a:pPr algn="ctr">
                        <a:defRPr sz="1000" b="1">
                          <a:solidFill>
                            <a:srgbClr val="FFFFFF"/>
                          </a:solidFill>
                          <a:latin typeface="Segoe UI"/>
                        </a:defRPr>
                      </a:pPr>
                      <a:r>
                        <a:t>Valor</a:t>
                      </a:r>
                    </a:p>
                  </a:txBody>
                  <a:tcPr anchor="ctr">
                    <a:solidFill>
                      <a:srgbClr val="0F2541"/>
                    </a:solidFill>
                  </a:tcPr>
                </a:tc>
              </a:tr>
              <a:tr h="365760">
                <a:tc>
                  <a:txBody>
                    <a:bodyPr/>
                    <a:lstStyle/>
                    <a:p>
                      <a:pPr algn="ctr">
                        <a:defRPr sz="950">
                          <a:latin typeface="Calibri"/>
                        </a:defRPr>
                      </a:pPr>
                      <a:r>
                        <a:t>K</a:t>
                      </a:r>
                    </a:p>
                  </a:txBody>
                  <a:tcPr anchor="ctr">
                    <a:solidFill>
                      <a:srgbClr val="FFFFFF"/>
                    </a:solidFill>
                  </a:tcPr>
                </a:tc>
                <a:tc>
                  <a:txBody>
                    <a:bodyPr/>
                    <a:lstStyle/>
                    <a:p>
                      <a:pPr algn="l">
                        <a:defRPr sz="950">
                          <a:latin typeface="Calibri"/>
                        </a:defRPr>
                      </a:pPr>
                      <a:r>
                        <a:t>Ganancia estática</a:t>
                      </a:r>
                    </a:p>
                  </a:txBody>
                  <a:tcPr anchor="ctr">
                    <a:solidFill>
                      <a:srgbClr val="FFFFFF"/>
                    </a:solidFill>
                  </a:tcPr>
                </a:tc>
                <a:tc>
                  <a:txBody>
                    <a:bodyPr/>
                    <a:lstStyle/>
                    <a:p>
                      <a:pPr algn="ctr">
                        <a:defRPr sz="950">
                          <a:latin typeface="Calibri"/>
                        </a:defRPr>
                      </a:pPr>
                      <a:r>
                        <a:t>0.4302 cm/µs</a:t>
                      </a:r>
                    </a:p>
                  </a:txBody>
                  <a:tcPr anchor="ctr">
                    <a:solidFill>
                      <a:srgbClr val="FFFFFF"/>
                    </a:solidFill>
                  </a:tcPr>
                </a:tc>
              </a:tr>
              <a:tr h="365760">
                <a:tc>
                  <a:txBody>
                    <a:bodyPr/>
                    <a:lstStyle/>
                    <a:p>
                      <a:pPr algn="ctr">
                        <a:defRPr sz="950">
                          <a:latin typeface="Calibri"/>
                        </a:defRPr>
                      </a:pPr>
                      <a:r>
                        <a:t>tau</a:t>
                      </a:r>
                    </a:p>
                  </a:txBody>
                  <a:tcPr anchor="ctr">
                    <a:solidFill>
                      <a:srgbClr val="F1F5F9"/>
                    </a:solidFill>
                  </a:tcPr>
                </a:tc>
                <a:tc>
                  <a:txBody>
                    <a:bodyPr/>
                    <a:lstStyle/>
                    <a:p>
                      <a:pPr algn="l">
                        <a:defRPr sz="950">
                          <a:latin typeface="Calibri"/>
                        </a:defRPr>
                      </a:pPr>
                      <a:r>
                        <a:t>Constante de tiempo</a:t>
                      </a:r>
                    </a:p>
                  </a:txBody>
                  <a:tcPr anchor="ctr">
                    <a:solidFill>
                      <a:srgbClr val="F1F5F9"/>
                    </a:solidFill>
                  </a:tcPr>
                </a:tc>
                <a:tc>
                  <a:txBody>
                    <a:bodyPr/>
                    <a:lstStyle/>
                    <a:p>
                      <a:pPr algn="ctr">
                        <a:defRPr sz="950">
                          <a:latin typeface="Calibri"/>
                        </a:defRPr>
                      </a:pPr>
                      <a:r>
                        <a:t>1.5719 s</a:t>
                      </a:r>
                    </a:p>
                  </a:txBody>
                  <a:tcPr anchor="ctr">
                    <a:solidFill>
                      <a:srgbClr val="F1F5F9"/>
                    </a:solidFill>
                  </a:tcPr>
                </a:tc>
              </a:tr>
              <a:tr h="365760">
                <a:tc>
                  <a:txBody>
                    <a:bodyPr/>
                    <a:lstStyle/>
                    <a:p>
                      <a:pPr algn="ctr">
                        <a:defRPr sz="950">
                          <a:latin typeface="Calibri"/>
                        </a:defRPr>
                      </a:pPr>
                      <a:r>
                        <a:t>t0</a:t>
                      </a:r>
                    </a:p>
                  </a:txBody>
                  <a:tcPr anchor="ctr">
                    <a:solidFill>
                      <a:srgbClr val="FFFFFF"/>
                    </a:solidFill>
                  </a:tcPr>
                </a:tc>
                <a:tc>
                  <a:txBody>
                    <a:bodyPr/>
                    <a:lstStyle/>
                    <a:p>
                      <a:pPr algn="l">
                        <a:defRPr sz="950">
                          <a:latin typeface="Calibri"/>
                        </a:defRPr>
                      </a:pPr>
                      <a:r>
                        <a:t>Tiempo muerto</a:t>
                      </a:r>
                    </a:p>
                  </a:txBody>
                  <a:tcPr anchor="ctr">
                    <a:solidFill>
                      <a:srgbClr val="FFFFFF"/>
                    </a:solidFill>
                  </a:tcPr>
                </a:tc>
                <a:tc>
                  <a:txBody>
                    <a:bodyPr/>
                    <a:lstStyle/>
                    <a:p>
                      <a:pPr algn="ctr">
                        <a:defRPr sz="950">
                          <a:latin typeface="Calibri"/>
                        </a:defRPr>
                      </a:pPr>
                      <a:r>
                        <a:t>0.1188 s</a:t>
                      </a:r>
                    </a:p>
                  </a:txBody>
                  <a:tcPr anchor="ctr">
                    <a:solidFill>
                      <a:srgbClr val="FFFFFF"/>
                    </a:solidFill>
                  </a:tcPr>
                </a:tc>
              </a:tr>
              <a:tr h="365760">
                <a:tc>
                  <a:txBody>
                    <a:bodyPr/>
                    <a:lstStyle/>
                    <a:p>
                      <a:pPr algn="ctr">
                        <a:defRPr sz="950">
                          <a:latin typeface="Calibri"/>
                        </a:defRPr>
                      </a:pPr>
                      <a:r>
                        <a:t>sp</a:t>
                      </a:r>
                    </a:p>
                  </a:txBody>
                  <a:tcPr anchor="ctr">
                    <a:solidFill>
                      <a:srgbClr val="F1F5F9"/>
                    </a:solidFill>
                  </a:tcPr>
                </a:tc>
                <a:tc>
                  <a:txBody>
                    <a:bodyPr/>
                    <a:lstStyle/>
                    <a:p>
                      <a:pPr algn="l">
                        <a:defRPr sz="950">
                          <a:latin typeface="Calibri"/>
                        </a:defRPr>
                      </a:pPr>
                      <a:r>
                        <a:t>Polo dominante</a:t>
                      </a:r>
                    </a:p>
                  </a:txBody>
                  <a:tcPr anchor="ctr">
                    <a:solidFill>
                      <a:srgbClr val="F1F5F9"/>
                    </a:solidFill>
                  </a:tcPr>
                </a:tc>
                <a:tc>
                  <a:txBody>
                    <a:bodyPr/>
                    <a:lstStyle/>
                    <a:p>
                      <a:pPr algn="ctr">
                        <a:defRPr sz="950">
                          <a:latin typeface="Calibri"/>
                        </a:defRPr>
                      </a:pPr>
                      <a:r>
                        <a:t>-0.6362 rad/s</a:t>
                      </a:r>
                    </a:p>
                  </a:txBody>
                  <a:tcPr anchor="ctr">
                    <a:solidFill>
                      <a:srgbClr val="F1F5F9"/>
                    </a:solidFill>
                  </a:tcPr>
                </a:tc>
              </a:tr>
              <a:tr h="365760">
                <a:tc>
                  <a:txBody>
                    <a:bodyPr/>
                    <a:lstStyle/>
                    <a:p>
                      <a:pPr algn="ctr">
                        <a:defRPr sz="950">
                          <a:latin typeface="Calibri"/>
                        </a:defRPr>
                      </a:pPr>
                      <a:r>
                        <a:t>t0 / tau</a:t>
                      </a:r>
                    </a:p>
                  </a:txBody>
                  <a:tcPr anchor="ctr">
                    <a:solidFill>
                      <a:srgbClr val="FFFFFF"/>
                    </a:solidFill>
                  </a:tcPr>
                </a:tc>
                <a:tc>
                  <a:txBody>
                    <a:bodyPr/>
                    <a:lstStyle/>
                    <a:p>
                      <a:pPr algn="l">
                        <a:defRPr sz="950">
                          <a:latin typeface="Calibri"/>
                        </a:defRPr>
                      </a:pPr>
                      <a:r>
                        <a:t>Índice controlabilidad</a:t>
                      </a:r>
                    </a:p>
                  </a:txBody>
                  <a:tcPr anchor="ctr">
                    <a:solidFill>
                      <a:srgbClr val="FFFFFF"/>
                    </a:solidFill>
                  </a:tcPr>
                </a:tc>
                <a:tc>
                  <a:txBody>
                    <a:bodyPr/>
                    <a:lstStyle/>
                    <a:p>
                      <a:pPr algn="ctr">
                        <a:defRPr sz="950">
                          <a:latin typeface="Calibri"/>
                        </a:defRPr>
                      </a:pPr>
                      <a:r>
                        <a:t>0.0756</a:t>
                      </a:r>
                    </a:p>
                  </a:txBody>
                  <a:tcPr anchor="ctr">
                    <a:solidFill>
                      <a:srgbClr val="FFFFFF"/>
                    </a:solidFill>
                  </a:tcPr>
                </a:tc>
              </a:tr>
              <a:tr h="365760">
                <a:tc>
                  <a:txBody>
                    <a:bodyPr/>
                    <a:lstStyle/>
                    <a:p>
                      <a:pPr algn="ctr">
                        <a:defRPr sz="950">
                          <a:latin typeface="Calibri"/>
                        </a:defRPr>
                      </a:pPr>
                      <a:r>
                        <a:t>Delta y</a:t>
                      </a:r>
                    </a:p>
                  </a:txBody>
                  <a:tcPr anchor="ctr">
                    <a:solidFill>
                      <a:srgbClr val="F1F5F9"/>
                    </a:solidFill>
                  </a:tcPr>
                </a:tc>
                <a:tc>
                  <a:txBody>
                    <a:bodyPr/>
                    <a:lstStyle/>
                    <a:p>
                      <a:pPr algn="l">
                        <a:defRPr sz="950">
                          <a:latin typeface="Calibri"/>
                        </a:defRPr>
                      </a:pPr>
                      <a:r>
                        <a:t>Salto de altura</a:t>
                      </a:r>
                    </a:p>
                  </a:txBody>
                  <a:tcPr anchor="ctr">
                    <a:solidFill>
                      <a:srgbClr val="F1F5F9"/>
                    </a:solidFill>
                  </a:tcPr>
                </a:tc>
                <a:tc>
                  <a:txBody>
                    <a:bodyPr/>
                    <a:lstStyle/>
                    <a:p>
                      <a:pPr algn="ctr">
                        <a:defRPr sz="950">
                          <a:latin typeface="Calibri"/>
                        </a:defRPr>
                      </a:pPr>
                      <a:r>
                        <a:t>+21.51 cm</a:t>
                      </a:r>
                    </a:p>
                  </a:txBody>
                  <a:tcPr anchor="ctr">
                    <a:solidFill>
                      <a:srgbClr val="F1F5F9"/>
                    </a:solidFill>
                  </a:tcPr>
                </a:tc>
              </a:tr>
              <a:tr h="365760">
                <a:tc>
                  <a:txBody>
                    <a:bodyPr/>
                    <a:lstStyle/>
                    <a:p>
                      <a:pPr algn="ctr">
                        <a:defRPr sz="950">
                          <a:latin typeface="Calibri"/>
                        </a:defRPr>
                      </a:pPr>
                      <a:r>
                        <a:t>RMSE</a:t>
                      </a:r>
                    </a:p>
                  </a:txBody>
                  <a:tcPr anchor="ctr">
                    <a:solidFill>
                      <a:srgbClr val="FFFFFF"/>
                    </a:solidFill>
                  </a:tcPr>
                </a:tc>
                <a:tc>
                  <a:txBody>
                    <a:bodyPr/>
                    <a:lstStyle/>
                    <a:p>
                      <a:pPr algn="l">
                        <a:defRPr sz="950">
                          <a:latin typeface="Calibri"/>
                        </a:defRPr>
                      </a:pPr>
                      <a:r>
                        <a:t>Error cuadrático</a:t>
                      </a:r>
                    </a:p>
                  </a:txBody>
                  <a:tcPr anchor="ctr">
                    <a:solidFill>
                      <a:srgbClr val="FFFFFF"/>
                    </a:solidFill>
                  </a:tcPr>
                </a:tc>
                <a:tc>
                  <a:txBody>
                    <a:bodyPr/>
                    <a:lstStyle/>
                    <a:p>
                      <a:pPr algn="ctr">
                        <a:defRPr sz="950">
                          <a:latin typeface="Calibri"/>
                        </a:defRPr>
                      </a:pPr>
                      <a:r>
                        <a:t>0.7540 cm</a:t>
                      </a:r>
                    </a:p>
                  </a:txBody>
                  <a:tcPr anchor="ctr">
                    <a:solidFill>
                      <a:srgbClr val="FFFFFF"/>
                    </a:solidFill>
                  </a:tcPr>
                </a:tc>
              </a:tr>
              <a:tr h="365760">
                <a:tc>
                  <a:txBody>
                    <a:bodyPr/>
                    <a:lstStyle/>
                    <a:p>
                      <a:pPr algn="ctr">
                        <a:defRPr sz="950" b="1">
                          <a:solidFill>
                            <a:srgbClr val="0D9488"/>
                          </a:solidFill>
                          <a:latin typeface="Calibri"/>
                        </a:defRPr>
                      </a:pPr>
                      <a:r>
                        <a:t>Fit %</a:t>
                      </a:r>
                    </a:p>
                  </a:txBody>
                  <a:tcPr anchor="ctr">
                    <a:solidFill>
                      <a:srgbClr val="F1F5F9"/>
                    </a:solidFill>
                  </a:tcPr>
                </a:tc>
                <a:tc>
                  <a:txBody>
                    <a:bodyPr/>
                    <a:lstStyle/>
                    <a:p>
                      <a:pPr algn="l">
                        <a:defRPr sz="950" b="1">
                          <a:solidFill>
                            <a:srgbClr val="0D9488"/>
                          </a:solidFill>
                          <a:latin typeface="Calibri"/>
                        </a:defRPr>
                      </a:pPr>
                      <a:r>
                        <a:t>Ajuste global</a:t>
                      </a:r>
                    </a:p>
                  </a:txBody>
                  <a:tcPr anchor="ctr">
                    <a:solidFill>
                      <a:srgbClr val="F1F5F9"/>
                    </a:solidFill>
                  </a:tcPr>
                </a:tc>
                <a:tc>
                  <a:txBody>
                    <a:bodyPr/>
                    <a:lstStyle/>
                    <a:p>
                      <a:pPr algn="ctr">
                        <a:defRPr sz="950" b="1">
                          <a:solidFill>
                            <a:srgbClr val="0D9488"/>
                          </a:solidFill>
                          <a:latin typeface="Calibri"/>
                        </a:defRPr>
                      </a:pPr>
                      <a:r>
                        <a:t>85.77 %</a:t>
                      </a:r>
                    </a:p>
                  </a:txBody>
                  <a:tcPr anchor="ctr">
                    <a:solidFill>
                      <a:srgbClr val="F1F5F9"/>
                    </a:solidFill>
                  </a:tcPr>
                </a:tc>
              </a:tr>
            </a:tbl>
          </a:graphicData>
        </a:graphic>
      </p:graphicFrame>
      <p:sp>
        <p:nvSpPr>
          <p:cNvPr id="8" name="TextBox 7"/>
          <p:cNvSpPr txBox="1"/>
          <p:nvPr/>
        </p:nvSpPr>
        <p:spPr>
          <a:xfrm>
            <a:off x="914400" y="5486400"/>
            <a:ext cx="4389120" cy="640080"/>
          </a:xfrm>
          <a:prstGeom prst="rect">
            <a:avLst/>
          </a:prstGeom>
          <a:noFill/>
        </p:spPr>
        <p:txBody>
          <a:bodyPr wrap="none">
            <a:spAutoFit/>
          </a:bodyPr>
          <a:lstStyle/>
          <a:p>
            <a:pPr>
              <a:defRPr sz="1100" b="1">
                <a:solidFill>
                  <a:srgbClr val="0284C7"/>
                </a:solidFill>
                <a:latin typeface="Consolas"/>
              </a:defRPr>
            </a:pPr>
            <a:r>
              <a:t>G_p(s) = (0.4302 · e^(-0.1188·s)) / (1.5719·s + 1)</a:t>
            </a:r>
          </a:p>
        </p:txBody>
      </p:sp>
      <p:sp>
        <p:nvSpPr>
          <p:cNvPr id="9" name="Rounded Rectangle 8"/>
          <p:cNvSpPr/>
          <p:nvPr/>
        </p:nvSpPr>
        <p:spPr>
          <a:xfrm>
            <a:off x="5669280" y="1463040"/>
            <a:ext cx="579089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0" y="1645920"/>
            <a:ext cx="5212080" cy="365760"/>
          </a:xfrm>
          <a:prstGeom prst="rect">
            <a:avLst/>
          </a:prstGeom>
          <a:noFill/>
        </p:spPr>
        <p:txBody>
          <a:bodyPr wrap="none">
            <a:spAutoFit/>
          </a:bodyPr>
          <a:lstStyle/>
          <a:p>
            <a:pPr>
              <a:defRPr sz="1300" b="1">
                <a:solidFill>
                  <a:srgbClr val="0F2541"/>
                </a:solidFill>
                <a:latin typeface="Segoe UI"/>
              </a:defRPr>
            </a:pPr>
            <a:r>
              <a:t>Respuesta Experimental Filtrada vs Modelo FOPDT</a:t>
            </a:r>
          </a:p>
        </p:txBody>
      </p:sp>
      <p:pic>
        <p:nvPicPr>
          <p:cNvPr id="11" name="Picture 10" descr="Primer grafico.png"/>
          <p:cNvPicPr>
            <a:picLocks noChangeAspect="1"/>
          </p:cNvPicPr>
          <p:nvPr/>
        </p:nvPicPr>
        <p:blipFill>
          <a:blip r:embed="rId2"/>
          <a:stretch>
            <a:fillRect/>
          </a:stretch>
        </p:blipFill>
        <p:spPr>
          <a:xfrm>
            <a:off x="5852160" y="2148840"/>
            <a:ext cx="5425135" cy="1841109"/>
          </a:xfrm>
          <a:prstGeom prst="rect">
            <a:avLst/>
          </a:prstGeom>
        </p:spPr>
      </p:pic>
      <p:sp>
        <p:nvSpPr>
          <p:cNvPr id="12" name="TextBox 11"/>
          <p:cNvSpPr txBox="1"/>
          <p:nvPr/>
        </p:nvSpPr>
        <p:spPr>
          <a:xfrm>
            <a:off x="5943600" y="4297680"/>
            <a:ext cx="5212080" cy="1737360"/>
          </a:xfrm>
          <a:prstGeom prst="rect">
            <a:avLst/>
          </a:prstGeom>
          <a:noFill/>
        </p:spPr>
        <p:txBody>
          <a:bodyPr wrap="square">
            <a:spAutoFit/>
          </a:bodyPr>
          <a:lstStyle/>
          <a:p>
            <a:pPr>
              <a:defRPr sz="1050">
                <a:solidFill>
                  <a:srgbClr val="1E293B"/>
                </a:solidFill>
                <a:latin typeface="Calibri"/>
              </a:defRPr>
            </a:pPr>
            <a:r>
              <a:t>• Ajuste Experimental Fit = 85.77% (Supera el 80% exigido por la rúbrica técnica).</a:t>
            </a:r>
            <a:br/>
            <a:r>
              <a:t>• Error Cuadrático Medio RMSE = 0.7540 cm (&lt; 8 mm de residuo dinámico promedio).</a:t>
            </a:r>
            <a:br/>
            <a:r>
              <a:t>• Trayectoria Monótona y Estable: El modelo explica con alta fidelidad la sustentación sin oscilaciones parásitas.</a:t>
            </a:r>
          </a:p>
        </p:txBody>
      </p:sp>
      <p:sp>
        <p:nvSpPr>
          <p:cNvPr id="13" name="TextBox 12"/>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Control I — Universidad del Magdalena | Etapa 1: Caracterización y Modelado Dinámico</a:t>
            </a:r>
          </a:p>
        </p:txBody>
      </p:sp>
      <p:sp>
        <p:nvSpPr>
          <p:cNvPr id="14" name="TextBox 13"/>
          <p:cNvSpPr txBox="1"/>
          <p:nvPr/>
        </p:nvSpPr>
        <p:spPr>
          <a:xfrm>
            <a:off x="10972800" y="6400800"/>
            <a:ext cx="640080" cy="320040"/>
          </a:xfrm>
          <a:prstGeom prst="rect">
            <a:avLst/>
          </a:prstGeom>
          <a:noFill/>
        </p:spPr>
        <p:txBody>
          <a:bodyPr wrap="none" lIns="0" tIns="0" rIns="0" bIns="0">
            <a:spAutoFit/>
          </a:bodyPr>
          <a:lstStyle/>
          <a:p>
            <a:pPr algn="r">
              <a:defRPr sz="900" b="1">
                <a:solidFill>
                  <a:srgbClr val="64748B"/>
                </a:solidFill>
                <a:latin typeface="Segoe UI"/>
              </a:defRPr>
            </a:pPr>
            <a: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300"/>
              </a:spcAft>
              <a:defRPr sz="1000" b="1">
                <a:solidFill>
                  <a:srgbClr val="0284C7"/>
                </a:solidFill>
                <a:latin typeface="Segoe UI"/>
              </a:defRPr>
            </a:pPr>
            <a:r>
              <a:t>SÍNTESIS Y TRABAJO FUTURO</a:t>
            </a:r>
          </a:p>
          <a:p>
            <a:pPr>
              <a:defRPr sz="2200" b="1">
                <a:solidFill>
                  <a:srgbClr val="0F2541"/>
                </a:solidFill>
                <a:latin typeface="Segoe UI"/>
              </a:defRPr>
            </a:pPr>
            <a:r>
              <a:t>Conclusiones Técnicas y Proyección al Lazo Cerrado (Etapa 2)</a:t>
            </a:r>
          </a:p>
        </p:txBody>
      </p:sp>
      <p:sp>
        <p:nvSpPr>
          <p:cNvPr id="5" name="Rounded Rectangle 4"/>
          <p:cNvSpPr/>
          <p:nvPr/>
        </p:nvSpPr>
        <p:spPr>
          <a:xfrm>
            <a:off x="731520" y="1463040"/>
            <a:ext cx="53035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754880" cy="4297680"/>
          </a:xfrm>
          <a:prstGeom prst="rect">
            <a:avLst/>
          </a:prstGeom>
          <a:noFill/>
        </p:spPr>
        <p:txBody>
          <a:bodyPr wrap="square">
            <a:spAutoFit/>
          </a:bodyPr>
          <a:lstStyle/>
          <a:p>
            <a:pPr>
              <a:spcAft>
                <a:spcPts val="800"/>
              </a:spcAft>
              <a:defRPr sz="1400" b="1">
                <a:solidFill>
                  <a:srgbClr val="0F2541"/>
                </a:solidFill>
                <a:latin typeface="Segoe UI"/>
              </a:defRPr>
            </a:pPr>
            <a:r>
              <a:t>Conclusiones y Validación de Hipótesis</a:t>
            </a:r>
          </a:p>
          <a:p>
            <a:pPr>
              <a:spcAft>
                <a:spcPts val="600"/>
              </a:spcAft>
              <a:defRPr sz="1050" b="1">
                <a:solidFill>
                  <a:srgbClr val="1E293B"/>
                </a:solidFill>
                <a:latin typeface="Calibri"/>
              </a:defRPr>
            </a:pPr>
            <a:r>
              <a:t>•  Validación del Modelo: </a:t>
            </a:r>
            <a:r>
              <a:rPr b="0">
                <a:solidFill>
                  <a:srgbClr val="64748B"/>
                </a:solidFill>
              </a:rPr>
              <a:t>El ajuste del 85.77% valida formalmente la hipótesis de linealización local y la existencia de un único polo dominante en s = -0.6362 rad/s en lazo abierto.</a:t>
            </a:r>
          </a:p>
          <a:p>
            <a:pPr>
              <a:spcAft>
                <a:spcPts val="600"/>
              </a:spcAft>
              <a:defRPr sz="1050" b="1">
                <a:solidFill>
                  <a:srgbClr val="1E293B"/>
                </a:solidFill>
                <a:latin typeface="Calibri"/>
              </a:defRPr>
            </a:pPr>
            <a:r>
              <a:t>•  Relación de Controlabilidad: </a:t>
            </a:r>
            <a:r>
              <a:rPr b="0">
                <a:solidFill>
                  <a:srgbClr val="64748B"/>
                </a:solidFill>
              </a:rPr>
              <a:t>t0 / tau = 0.1188 / 1.5719 = 0.0756 &lt;&lt; 0.1. Al ser un retardo despreciable, la planta es altamente controlable mediante algoritmos clásicos sin riesgo de inestabilidad por desfase.</a:t>
            </a:r>
          </a:p>
          <a:p>
            <a:pPr>
              <a:spcAft>
                <a:spcPts val="600"/>
              </a:spcAft>
              <a:defRPr sz="1050" b="1">
                <a:solidFill>
                  <a:srgbClr val="1E293B"/>
                </a:solidFill>
                <a:latin typeface="Calibri"/>
              </a:defRPr>
            </a:pPr>
            <a:r>
              <a:t>•  Proyección a la Etapa 2: </a:t>
            </a:r>
            <a:r>
              <a:rPr b="0">
                <a:solidFill>
                  <a:srgbClr val="64748B"/>
                </a:solidFill>
              </a:rPr>
              <a:t>La función FOPDT obtenida permite ahora el cálculo analítico directo de reguladores continuos y discretos (Ziegler-Nichols, Cohen-Coon, IMC).</a:t>
            </a:r>
          </a:p>
          <a:p>
            <a:pPr>
              <a:spcAft>
                <a:spcPts val="600"/>
              </a:spcAft>
              <a:defRPr sz="1050" b="1">
                <a:solidFill>
                  <a:srgbClr val="1E293B"/>
                </a:solidFill>
                <a:latin typeface="Calibri"/>
              </a:defRPr>
            </a:pPr>
            <a:r>
              <a:t>•  Arquitectura PID Futura: </a:t>
            </a:r>
            <a:r>
              <a:rPr b="0">
                <a:solidFill>
                  <a:srgbClr val="64748B"/>
                </a:solidFill>
              </a:rPr>
              <a:t>Gc(s) = Kp · (1 + 1/(Ti·s) + Td·s). Aportará ceros al lazo para amortiguar el ascenso y cancelará asintóticamente el error de régimen permanente provocado por la gravedad.</a:t>
            </a:r>
          </a:p>
        </p:txBody>
      </p:sp>
      <p:sp>
        <p:nvSpPr>
          <p:cNvPr id="7" name="Rounded Rectangle 6"/>
          <p:cNvSpPr/>
          <p:nvPr/>
        </p:nvSpPr>
        <p:spPr>
          <a:xfrm>
            <a:off x="6217920" y="1463040"/>
            <a:ext cx="524225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olos en el plano complejo.png"/>
          <p:cNvPicPr>
            <a:picLocks noChangeAspect="1"/>
          </p:cNvPicPr>
          <p:nvPr/>
        </p:nvPicPr>
        <p:blipFill>
          <a:blip r:embed="rId2"/>
          <a:stretch>
            <a:fillRect/>
          </a:stretch>
        </p:blipFill>
        <p:spPr>
          <a:xfrm>
            <a:off x="6400800" y="1645920"/>
            <a:ext cx="4876495" cy="3558647"/>
          </a:xfrm>
          <a:prstGeom prst="rect">
            <a:avLst/>
          </a:prstGeom>
        </p:spPr>
      </p:pic>
      <p:sp>
        <p:nvSpPr>
          <p:cNvPr id="9" name="TextBox 8"/>
          <p:cNvSpPr txBox="1"/>
          <p:nvPr/>
        </p:nvSpPr>
        <p:spPr>
          <a:xfrm>
            <a:off x="6400800" y="5715000"/>
            <a:ext cx="4876495" cy="320040"/>
          </a:xfrm>
          <a:prstGeom prst="rect">
            <a:avLst/>
          </a:prstGeom>
          <a:noFill/>
        </p:spPr>
        <p:txBody>
          <a:bodyPr wrap="none">
            <a:spAutoFit/>
          </a:bodyPr>
          <a:lstStyle/>
          <a:p>
            <a:pPr algn="ctr">
              <a:defRPr sz="950" i="1">
                <a:solidFill>
                  <a:srgbClr val="64748B"/>
                </a:solidFill>
                <a:latin typeface="Calibri"/>
              </a:defRPr>
            </a:pPr>
            <a:r>
              <a:t>Figura 3: Polo estable en LHP (s = -0.6362 rad/s) con rejilla sgrid en MATLAB.</a:t>
            </a:r>
          </a:p>
        </p:txBody>
      </p:sp>
      <p:sp>
        <p:nvSpPr>
          <p:cNvPr id="10" name="TextBox 9"/>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Control I — Universidad del Magdalena | Etapa 1: Caracterización y Modelado Dinámico</a:t>
            </a:r>
          </a:p>
        </p:txBody>
      </p:sp>
      <p:sp>
        <p:nvSpPr>
          <p:cNvPr id="11" name="TextBox 10"/>
          <p:cNvSpPr txBox="1"/>
          <p:nvPr/>
        </p:nvSpPr>
        <p:spPr>
          <a:xfrm>
            <a:off x="10972800" y="6400800"/>
            <a:ext cx="640080" cy="320040"/>
          </a:xfrm>
          <a:prstGeom prst="rect">
            <a:avLst/>
          </a:prstGeom>
          <a:noFill/>
        </p:spPr>
        <p:txBody>
          <a:bodyPr wrap="none" lIns="0" tIns="0" rIns="0" bIns="0">
            <a:spAutoFit/>
          </a:bodyPr>
          <a:lstStyle/>
          <a:p>
            <a:pPr algn="r">
              <a:defRPr sz="900" b="1">
                <a:solidFill>
                  <a:srgbClr val="64748B"/>
                </a:solidFill>
                <a:latin typeface="Segoe UI"/>
              </a:defRPr>
            </a:pPr>
            <a: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